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9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AA3A5-225F-A4B5-3E6D-48772D8D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C4138EE-FF6F-7B15-0B11-D6C0EB4EC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C26D739A-0B54-F828-64B8-208977D1B0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8E28DD64-AA50-DC84-3928-15E5D8DB1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20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trace-xx.netlify.app/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17/06/relationships/model3d" Target="../media/model3d1.glb"/><Relationship Id="rId11" Type="http://schemas.openxmlformats.org/officeDocument/2006/relationships/image" Target="../media/image8.jpeg"/><Relationship Id="rId5" Type="http://schemas.openxmlformats.org/officeDocument/2006/relationships/image" Target="../media/image5.jpeg"/><Relationship Id="rId10" Type="http://schemas.openxmlformats.org/officeDocument/2006/relationships/hyperlink" Target="https://drive.google.com/file/d/1hWoPPkCNMHi5QB3JFG4Px-JBaE0dHB62/view?usp=sharing" TargetMode="External"/><Relationship Id="rId4" Type="http://schemas.openxmlformats.org/officeDocument/2006/relationships/image" Target="../media/image4.jpeg"/><Relationship Id="rId9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17/06/relationships/model3d" Target="../media/model3d1.glb"/><Relationship Id="rId3" Type="http://schemas.openxmlformats.org/officeDocument/2006/relationships/image" Target="../media/image2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2UHUsULnJd91Gif8dmn5olfW2Su1pGsF/view?usp=sharing" TargetMode="External"/><Relationship Id="rId11" Type="http://schemas.openxmlformats.org/officeDocument/2006/relationships/image" Target="../media/image26.png"/><Relationship Id="rId5" Type="http://schemas.openxmlformats.org/officeDocument/2006/relationships/image" Target="../media/image23.png"/><Relationship Id="rId10" Type="http://schemas.openxmlformats.org/officeDocument/2006/relationships/hyperlink" Target="https://github.com/GudlaVishal-23/Trace-X" TargetMode="External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sites.google.com/site/dineshsinghindian/dataset" TargetMode="External"/><Relationship Id="rId13" Type="http://schemas.openxmlformats.org/officeDocument/2006/relationships/hyperlink" Target="https://drive.google.com/file/d/12UHUsULnJd91Gif8dmn5olfW2Su1pGsF/view?usp=sharing" TargetMode="External"/><Relationship Id="rId18" Type="http://schemas.openxmlformats.org/officeDocument/2006/relationships/image" Target="../media/image8.jpeg"/><Relationship Id="rId3" Type="http://schemas.openxmlformats.org/officeDocument/2006/relationships/image" Target="../media/image2.png"/><Relationship Id="rId7" Type="http://schemas.openxmlformats.org/officeDocument/2006/relationships/hyperlink" Target="https://openaccess.thecvf.com/content/WACV2022/html/Sharma_Intelligent_Camera_Selection_Decisions_for_Target_Tracking_in_a_Camera_WACV_2022_paper.html" TargetMode="External"/><Relationship Id="rId12" Type="http://schemas.openxmlformats.org/officeDocument/2006/relationships/image" Target="../media/image26.png"/><Relationship Id="rId17" Type="http://schemas.openxmlformats.org/officeDocument/2006/relationships/hyperlink" Target="https://drive.google.com/file/d/1hWoPPkCNMHi5QB3JFG4Px-JBaE0dHB62/view?usp=sharing" TargetMode="Externa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access.thecvf.com/content/CVPR2021W/AICity/html/Wu_A_Multi-Camera_Vehicle_Tracking_System_Based_on_City-Scale_Vehicle_Re-ID_CVPRW_2021_paper.html" TargetMode="External"/><Relationship Id="rId11" Type="http://schemas.openxmlformats.org/officeDocument/2006/relationships/hyperlink" Target="https://github.com/GudlaVishal-23/Trace-X" TargetMode="External"/><Relationship Id="rId5" Type="http://schemas.openxmlformats.org/officeDocument/2006/relationships/hyperlink" Target="https://openaccess.thecvf.com/content_CVPRW_2019/html/AI_City/Tan_Multi-camera_vehicle_tracking_and_re-identification_based_on_visual_and_spatial-temporal_CVPRW_2019_paper.html" TargetMode="External"/><Relationship Id="rId15" Type="http://schemas.openxmlformats.org/officeDocument/2006/relationships/hyperlink" Target="https://trace-xx.netlify.app/" TargetMode="External"/><Relationship Id="rId10" Type="http://schemas.openxmlformats.org/officeDocument/2006/relationships/hyperlink" Target="https://www.openstreetmap.org/" TargetMode="External"/><Relationship Id="rId4" Type="http://schemas.openxmlformats.org/officeDocument/2006/relationships/hyperlink" Target="https://arxiv.org/abs/2207.06657" TargetMode="External"/><Relationship Id="rId9" Type="http://schemas.openxmlformats.org/officeDocument/2006/relationships/hyperlink" Target="https://openaccess.thecvf.com/content_CVPR_2019/html/Tang_CityFlow_A_City-Scale_Benchmark_for_Multi-Target_Multi-Camera_Vehicle_Tracking_and_CVPR_2019_paper.html" TargetMode="External"/><Relationship Id="rId1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3141" y="1477246"/>
            <a:ext cx="592455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26127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City-Wide AI Engine for Multi-Camera ANPR Trajectory Tracking and Urban Traffic Analytics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Smart Automation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143680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NeuraTrack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478980" y="1500"/>
            <a:ext cx="7234038" cy="1143000"/>
          </a:xfrm>
        </p:spPr>
        <p:txBody>
          <a:bodyPr/>
          <a:lstStyle/>
          <a:p>
            <a:pPr eaLnBrk="1" hangingPunct="1"/>
            <a: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TRACE-X</a:t>
            </a:r>
            <a:br>
              <a:rPr lang="en-US" sz="1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Trust-Aware Multi-Camera Vehicle Intelligence for Urban Traffic Analytics</a:t>
            </a:r>
            <a:endParaRPr lang="en-US" sz="1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0A6CBE8-C1AD-FFA4-72A6-CAE892A45F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Neura</a:t>
            </a:r>
          </a:p>
          <a:p>
            <a:pPr algn="ctr"/>
            <a:r>
              <a:rPr lang="en-US" dirty="0"/>
              <a:t>Track</a:t>
            </a:r>
            <a:endParaRPr lang="en-IN" dirty="0"/>
          </a:p>
        </p:txBody>
      </p:sp>
      <p:sp>
        <p:nvSpPr>
          <p:cNvPr id="15420" name="Text 26">
            <a:extLst>
              <a:ext uri="{FF2B5EF4-FFF2-40B4-BE49-F238E27FC236}">
                <a16:creationId xmlns:a16="http://schemas.microsoft.com/office/drawing/2014/main" id="{83E43B39-7175-E107-9CFE-22875FE2C0CE}"/>
              </a:ext>
            </a:extLst>
          </p:cNvPr>
          <p:cNvSpPr txBox="1"/>
          <p:nvPr/>
        </p:nvSpPr>
        <p:spPr>
          <a:xfrm>
            <a:off x="2761488" y="9052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TRACE-X Solution Pipeline</a:t>
            </a:r>
            <a:endParaRPr lang="en-US" sz="1300" dirty="0"/>
          </a:p>
        </p:txBody>
      </p:sp>
      <p:sp>
        <p:nvSpPr>
          <p:cNvPr id="15554" name="Shape 157">
            <a:extLst>
              <a:ext uri="{FF2B5EF4-FFF2-40B4-BE49-F238E27FC236}">
                <a16:creationId xmlns:a16="http://schemas.microsoft.com/office/drawing/2014/main" id="{9062813F-3C09-4510-4DA9-00EBBA6FD58A}"/>
              </a:ext>
            </a:extLst>
          </p:cNvPr>
          <p:cNvSpPr/>
          <p:nvPr/>
        </p:nvSpPr>
        <p:spPr>
          <a:xfrm>
            <a:off x="2761488" y="5925793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FEE67D-409C-6EED-74CD-B566D363C6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7" t="14134" r="626" b="7631"/>
          <a:stretch>
            <a:fillRect/>
          </a:stretch>
        </p:blipFill>
        <p:spPr>
          <a:xfrm>
            <a:off x="73151" y="1124712"/>
            <a:ext cx="12042649" cy="52102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Neura</a:t>
            </a:r>
          </a:p>
          <a:p>
            <a:pPr algn="ctr"/>
            <a:r>
              <a:rPr lang="en-US" dirty="0"/>
              <a:t>Track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476346-18D4-8819-B57D-FB33CF8272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533" b="1991"/>
          <a:stretch>
            <a:fillRect/>
          </a:stretch>
        </p:blipFill>
        <p:spPr>
          <a:xfrm>
            <a:off x="3391298" y="1144500"/>
            <a:ext cx="8716686" cy="50178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BF7B2B-34E4-1EDA-8A13-D45EAC93BC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467"/>
          <a:stretch>
            <a:fillRect/>
          </a:stretch>
        </p:blipFill>
        <p:spPr>
          <a:xfrm>
            <a:off x="84016" y="1140243"/>
            <a:ext cx="3224085" cy="438075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3D Model 14" descr="Red Foam Hand">
                <a:extLst>
                  <a:ext uri="{FF2B5EF4-FFF2-40B4-BE49-F238E27FC236}">
                    <a16:creationId xmlns:a16="http://schemas.microsoft.com/office/drawing/2014/main" id="{B182EEFE-20AE-2812-A0E1-765A019C6AD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92456558"/>
                  </p:ext>
                </p:extLst>
              </p:nvPr>
            </p:nvGraphicFramePr>
            <p:xfrm rot="5622951">
              <a:off x="2830903" y="5089031"/>
              <a:ext cx="731703" cy="1456618"/>
            </p:xfrm>
            <a:graphic>
              <a:graphicData uri="http://schemas.microsoft.com/office/drawing/2017/model3d">
                <am3d:model3d r:embed="rId6">
                  <am3d:spPr>
                    <a:xfrm rot="5622951">
                      <a:off x="0" y="0"/>
                      <a:ext cx="731703" cy="1456618"/>
                    </a:xfrm>
                    <a:prstGeom prst="rect">
                      <a:avLst/>
                    </a:prstGeom>
                  </am3d:spPr>
                  <am3d:camera>
                    <am3d:pos x="0" y="0" z="523692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15165" d="1000000"/>
                    <am3d:preTrans dx="-75706" dy="-17654876" dz="50212"/>
                    <am3d:scale>
                      <am3d:sx n="1000000" d="1000000"/>
                      <am3d:sy n="1000000" d="1000000"/>
                      <am3d:sz n="1000000" d="1000000"/>
                    </am3d:scale>
                    <am3d:rot ax="951511" ay="-555030" az="10643129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162495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3D Model 14" descr="Red Foam Hand">
                <a:extLst>
                  <a:ext uri="{FF2B5EF4-FFF2-40B4-BE49-F238E27FC236}">
                    <a16:creationId xmlns:a16="http://schemas.microsoft.com/office/drawing/2014/main" id="{B182EEFE-20AE-2812-A0E1-765A019C6AD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5622951">
                <a:off x="2830903" y="5089031"/>
                <a:ext cx="731703" cy="1456618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 descr="Website 3D Icon Isolated on Transparent Background, Gold Texture, 3D Rendering 23456390 PNG">
            <a:hlinkClick r:id="rId8"/>
            <a:extLst>
              <a:ext uri="{FF2B5EF4-FFF2-40B4-BE49-F238E27FC236}">
                <a16:creationId xmlns:a16="http://schemas.microsoft.com/office/drawing/2014/main" id="{9A66FFD8-27E0-F933-27B2-3AA664D3DD4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4048" t="9054" r="6114" b="11003"/>
          <a:stretch>
            <a:fillRect/>
          </a:stretch>
        </p:blipFill>
        <p:spPr>
          <a:xfrm>
            <a:off x="130985" y="5432243"/>
            <a:ext cx="957229" cy="797380"/>
          </a:xfrm>
          <a:prstGeom prst="rect">
            <a:avLst/>
          </a:prstGeom>
        </p:spPr>
      </p:pic>
      <p:pic>
        <p:nvPicPr>
          <p:cNvPr id="13" name="Picture 12" descr="Video Logo Design stock vector. Illustration of cinematography - 83343220">
            <a:hlinkClick r:id="rId10"/>
            <a:extLst>
              <a:ext uri="{FF2B5EF4-FFF2-40B4-BE49-F238E27FC236}">
                <a16:creationId xmlns:a16="http://schemas.microsoft.com/office/drawing/2014/main" id="{B3AE170A-7A6B-A5E5-C645-84BF3B1236A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4132" b="20207"/>
          <a:stretch>
            <a:fillRect/>
          </a:stretch>
        </p:blipFill>
        <p:spPr>
          <a:xfrm>
            <a:off x="1171735" y="5599852"/>
            <a:ext cx="1048646" cy="5509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0D946-14CF-C8C2-B748-020662550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CF13634-AEA1-2548-8106-E7192775E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B87A28F8-AF49-0F4A-9D62-7FD26D16B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6FD66-E927-B181-74E4-6C1614E5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5D9901-72E3-BED7-C891-8729BCD89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55E3AC24-1D3D-B74D-2183-5937DB5DA55E}"/>
              </a:ext>
            </a:extLst>
          </p:cNvPr>
          <p:cNvSpPr/>
          <p:nvPr/>
        </p:nvSpPr>
        <p:spPr>
          <a:xfrm>
            <a:off x="457200" y="1234440"/>
            <a:ext cx="3611880" cy="4892040"/>
          </a:xfrm>
          <a:prstGeom prst="roundRect">
            <a:avLst>
              <a:gd name="adj" fmla="val 1519"/>
            </a:avLst>
          </a:prstGeom>
          <a:solidFill>
            <a:srgbClr val="C8AD82"/>
          </a:solidFill>
          <a:ln w="12700">
            <a:solidFill>
              <a:srgbClr val="B89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/home/claude/pptx_build2/icon_pin.png">
            <a:extLst>
              <a:ext uri="{FF2B5EF4-FFF2-40B4-BE49-F238E27FC236}">
                <a16:creationId xmlns:a16="http://schemas.microsoft.com/office/drawing/2014/main" id="{083B338A-FA40-49C1-F793-58867B211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0">
            <a:off x="3685032" y="1161288"/>
            <a:ext cx="292608" cy="292608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E20BD5C9-94DD-B931-B55D-5A89CD5AB017}"/>
              </a:ext>
            </a:extLst>
          </p:cNvPr>
          <p:cNvSpPr txBox="1"/>
          <p:nvPr/>
        </p:nvSpPr>
        <p:spPr>
          <a:xfrm>
            <a:off x="685800" y="14356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ANALYSIS</a:t>
            </a:r>
            <a:endParaRPr lang="en-US" sz="1600" dirty="0"/>
          </a:p>
        </p:txBody>
      </p:sp>
      <p:pic>
        <p:nvPicPr>
          <p:cNvPr id="13" name="Image 2" descr="/home/claude/pptx_build2/icon_star.png">
            <a:extLst>
              <a:ext uri="{FF2B5EF4-FFF2-40B4-BE49-F238E27FC236}">
                <a16:creationId xmlns:a16="http://schemas.microsoft.com/office/drawing/2014/main" id="{7620AFA2-B225-798F-D71C-06321B62F604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822960" y="1801368"/>
            <a:ext cx="237744" cy="237744"/>
          </a:xfrm>
          <a:prstGeom prst="rect">
            <a:avLst/>
          </a:prstGeom>
        </p:spPr>
      </p:pic>
      <p:pic>
        <p:nvPicPr>
          <p:cNvPr id="15" name="Image 3" descr="/home/claude/pptx_build2/icon_star.png">
            <a:extLst>
              <a:ext uri="{FF2B5EF4-FFF2-40B4-BE49-F238E27FC236}">
                <a16:creationId xmlns:a16="http://schemas.microsoft.com/office/drawing/2014/main" id="{1E98B6DE-AF9E-3331-8B9F-7C6D9894A183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1188720" y="1801368"/>
            <a:ext cx="237744" cy="237744"/>
          </a:xfrm>
          <a:prstGeom prst="rect">
            <a:avLst/>
          </a:prstGeom>
        </p:spPr>
      </p:pic>
      <p:pic>
        <p:nvPicPr>
          <p:cNvPr id="17" name="Image 4" descr="/home/claude/pptx_build2/icon_star.png">
            <a:extLst>
              <a:ext uri="{FF2B5EF4-FFF2-40B4-BE49-F238E27FC236}">
                <a16:creationId xmlns:a16="http://schemas.microsoft.com/office/drawing/2014/main" id="{A3D694B5-0726-3BED-EBFA-0AA81279DAA7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1554480" y="1801368"/>
            <a:ext cx="237744" cy="237744"/>
          </a:xfrm>
          <a:prstGeom prst="rect">
            <a:avLst/>
          </a:prstGeom>
        </p:spPr>
      </p:pic>
      <p:pic>
        <p:nvPicPr>
          <p:cNvPr id="19" name="Image 5" descr="/home/claude/pptx_build2/icon_star.png">
            <a:extLst>
              <a:ext uri="{FF2B5EF4-FFF2-40B4-BE49-F238E27FC236}">
                <a16:creationId xmlns:a16="http://schemas.microsoft.com/office/drawing/2014/main" id="{6F73F188-B7F3-8693-A086-62C8ACD56EA9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1920240" y="1801368"/>
            <a:ext cx="237744" cy="237744"/>
          </a:xfrm>
          <a:prstGeom prst="rect">
            <a:avLst/>
          </a:prstGeom>
        </p:spPr>
      </p:pic>
      <p:pic>
        <p:nvPicPr>
          <p:cNvPr id="21" name="Image 6" descr="/home/claude/pptx_build2/icon_star.png">
            <a:extLst>
              <a:ext uri="{FF2B5EF4-FFF2-40B4-BE49-F238E27FC236}">
                <a16:creationId xmlns:a16="http://schemas.microsoft.com/office/drawing/2014/main" id="{AB140802-A970-2DEB-561B-2DD473E9D952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2286000" y="1801368"/>
            <a:ext cx="237744" cy="237744"/>
          </a:xfrm>
          <a:prstGeom prst="rect">
            <a:avLst/>
          </a:prstGeom>
        </p:spPr>
      </p:pic>
      <p:sp>
        <p:nvSpPr>
          <p:cNvPr id="23" name="Shape 6">
            <a:extLst>
              <a:ext uri="{FF2B5EF4-FFF2-40B4-BE49-F238E27FC236}">
                <a16:creationId xmlns:a16="http://schemas.microsoft.com/office/drawing/2014/main" id="{1F85FADA-E7A3-C8A0-AE96-0B4F581FBC4C}"/>
              </a:ext>
            </a:extLst>
          </p:cNvPr>
          <p:cNvSpPr/>
          <p:nvPr/>
        </p:nvSpPr>
        <p:spPr>
          <a:xfrm>
            <a:off x="4251960" y="1234440"/>
            <a:ext cx="3611880" cy="4892040"/>
          </a:xfrm>
          <a:prstGeom prst="roundRect">
            <a:avLst>
              <a:gd name="adj" fmla="val 1519"/>
            </a:avLst>
          </a:prstGeom>
          <a:solidFill>
            <a:srgbClr val="C8AD82"/>
          </a:solidFill>
          <a:ln w="12700">
            <a:solidFill>
              <a:srgbClr val="B89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7" descr="/home/claude/pptx_build2/icon_pin.png">
            <a:extLst>
              <a:ext uri="{FF2B5EF4-FFF2-40B4-BE49-F238E27FC236}">
                <a16:creationId xmlns:a16="http://schemas.microsoft.com/office/drawing/2014/main" id="{8CF58178-F6C4-DAC0-3358-EC9616AEC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0">
            <a:off x="7479792" y="1161288"/>
            <a:ext cx="292608" cy="292608"/>
          </a:xfrm>
          <a:prstGeom prst="rect">
            <a:avLst/>
          </a:prstGeom>
        </p:spPr>
      </p:pic>
      <p:sp>
        <p:nvSpPr>
          <p:cNvPr id="27" name="Text 7">
            <a:extLst>
              <a:ext uri="{FF2B5EF4-FFF2-40B4-BE49-F238E27FC236}">
                <a16:creationId xmlns:a16="http://schemas.microsoft.com/office/drawing/2014/main" id="{2774937D-8CC1-77F9-EEA6-B27D3B25BC40}"/>
              </a:ext>
            </a:extLst>
          </p:cNvPr>
          <p:cNvSpPr txBox="1"/>
          <p:nvPr/>
        </p:nvSpPr>
        <p:spPr>
          <a:xfrm>
            <a:off x="4480560" y="14356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VIABILITY</a:t>
            </a:r>
            <a:endParaRPr lang="en-US" sz="1600" dirty="0"/>
          </a:p>
        </p:txBody>
      </p:sp>
      <p:pic>
        <p:nvPicPr>
          <p:cNvPr id="29" name="Image 8" descr="/home/claude/pptx_build2/icon_check.png">
            <a:extLst>
              <a:ext uri="{FF2B5EF4-FFF2-40B4-BE49-F238E27FC236}">
                <a16:creationId xmlns:a16="http://schemas.microsoft.com/office/drawing/2014/main" id="{19C8D6A1-3108-DE8E-06CA-3E96BD1828C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84164" y="1783080"/>
            <a:ext cx="347472" cy="347472"/>
          </a:xfrm>
          <a:prstGeom prst="rect">
            <a:avLst/>
          </a:prstGeom>
        </p:spPr>
      </p:pic>
      <p:sp>
        <p:nvSpPr>
          <p:cNvPr id="31" name="Shape 8">
            <a:extLst>
              <a:ext uri="{FF2B5EF4-FFF2-40B4-BE49-F238E27FC236}">
                <a16:creationId xmlns:a16="http://schemas.microsoft.com/office/drawing/2014/main" id="{446ED982-51E6-FB0E-BA50-4143C638FA67}"/>
              </a:ext>
            </a:extLst>
          </p:cNvPr>
          <p:cNvSpPr/>
          <p:nvPr/>
        </p:nvSpPr>
        <p:spPr>
          <a:xfrm>
            <a:off x="8046720" y="1234440"/>
            <a:ext cx="3611880" cy="4892040"/>
          </a:xfrm>
          <a:prstGeom prst="roundRect">
            <a:avLst>
              <a:gd name="adj" fmla="val 1519"/>
            </a:avLst>
          </a:prstGeom>
          <a:solidFill>
            <a:srgbClr val="C8AD82"/>
          </a:solidFill>
          <a:ln w="12700">
            <a:solidFill>
              <a:srgbClr val="B89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9" descr="/home/claude/pptx_build2/icon_pin.png">
            <a:extLst>
              <a:ext uri="{FF2B5EF4-FFF2-40B4-BE49-F238E27FC236}">
                <a16:creationId xmlns:a16="http://schemas.microsoft.com/office/drawing/2014/main" id="{62A1DBA2-11BD-6E16-8BCE-61B6099A6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0">
            <a:off x="11274552" y="1161288"/>
            <a:ext cx="292608" cy="292608"/>
          </a:xfrm>
          <a:prstGeom prst="rect">
            <a:avLst/>
          </a:prstGeom>
        </p:spPr>
      </p:pic>
      <p:sp>
        <p:nvSpPr>
          <p:cNvPr id="35" name="Text 9">
            <a:extLst>
              <a:ext uri="{FF2B5EF4-FFF2-40B4-BE49-F238E27FC236}">
                <a16:creationId xmlns:a16="http://schemas.microsoft.com/office/drawing/2014/main" id="{9F4E8ABA-0A2D-07FC-D172-2927C344124F}"/>
              </a:ext>
            </a:extLst>
          </p:cNvPr>
          <p:cNvSpPr txBox="1"/>
          <p:nvPr/>
        </p:nvSpPr>
        <p:spPr>
          <a:xfrm>
            <a:off x="8275320" y="14356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POTENTIAL</a:t>
            </a:r>
            <a:endParaRPr lang="en-US" sz="1600" dirty="0"/>
          </a:p>
        </p:txBody>
      </p:sp>
      <p:pic>
        <p:nvPicPr>
          <p:cNvPr id="37" name="Image 10" descr="/home/claude/pptx_build2/icon_chartline.png">
            <a:extLst>
              <a:ext uri="{FF2B5EF4-FFF2-40B4-BE49-F238E27FC236}">
                <a16:creationId xmlns:a16="http://schemas.microsoft.com/office/drawing/2014/main" id="{89D2DC9E-501D-DE21-F27A-7F3F02F3B3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8924" y="1783080"/>
            <a:ext cx="347472" cy="347472"/>
          </a:xfrm>
          <a:prstGeom prst="rect">
            <a:avLst/>
          </a:prstGeom>
        </p:spPr>
      </p:pic>
      <p:pic>
        <p:nvPicPr>
          <p:cNvPr id="39" name="Image 11" descr="/home/claude/pptx_build2/icon_recycle.png">
            <a:extLst>
              <a:ext uri="{FF2B5EF4-FFF2-40B4-BE49-F238E27FC236}">
                <a16:creationId xmlns:a16="http://schemas.microsoft.com/office/drawing/2014/main" id="{6306FB81-6BAD-32F2-BB5C-2F38B3328F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276856"/>
            <a:ext cx="237744" cy="237744"/>
          </a:xfrm>
          <a:prstGeom prst="rect">
            <a:avLst/>
          </a:prstGeom>
        </p:spPr>
      </p:pic>
      <p:sp>
        <p:nvSpPr>
          <p:cNvPr id="41" name="Text 10">
            <a:extLst>
              <a:ext uri="{FF2B5EF4-FFF2-40B4-BE49-F238E27FC236}">
                <a16:creationId xmlns:a16="http://schemas.microsoft.com/office/drawing/2014/main" id="{CCD04C2F-42CA-4DB1-4598-AFA1FEFBB65A}"/>
              </a:ext>
            </a:extLst>
          </p:cNvPr>
          <p:cNvSpPr txBox="1"/>
          <p:nvPr/>
        </p:nvSpPr>
        <p:spPr>
          <a:xfrm>
            <a:off x="1033272" y="2258568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Reusability: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existing CCTV/ANPR camera networks — no new hardware installation required.</a:t>
            </a:r>
            <a:endParaRPr lang="en-US" sz="1000" dirty="0"/>
          </a:p>
        </p:txBody>
      </p:sp>
      <p:pic>
        <p:nvPicPr>
          <p:cNvPr id="43" name="Image 12" descr="/home/claude/pptx_build2/icon_chartline.png">
            <a:extLst>
              <a:ext uri="{FF2B5EF4-FFF2-40B4-BE49-F238E27FC236}">
                <a16:creationId xmlns:a16="http://schemas.microsoft.com/office/drawing/2014/main" id="{EBCD86B5-FFAE-62BD-9FDB-82E73FFB84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044952"/>
            <a:ext cx="237744" cy="237744"/>
          </a:xfrm>
          <a:prstGeom prst="rect">
            <a:avLst/>
          </a:prstGeom>
        </p:spPr>
      </p:pic>
      <p:sp>
        <p:nvSpPr>
          <p:cNvPr id="45" name="Text 11">
            <a:extLst>
              <a:ext uri="{FF2B5EF4-FFF2-40B4-BE49-F238E27FC236}">
                <a16:creationId xmlns:a16="http://schemas.microsoft.com/office/drawing/2014/main" id="{04FB7A89-CDBD-F76B-40B0-C786C69562C1}"/>
              </a:ext>
            </a:extLst>
          </p:cNvPr>
          <p:cNvSpPr txBox="1"/>
          <p:nvPr/>
        </p:nvSpPr>
        <p:spPr>
          <a:xfrm>
            <a:off x="1033272" y="3026664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Deployment: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at a few key intersections first, then expand citywide zone-by-zone.</a:t>
            </a:r>
            <a:endParaRPr lang="en-US" sz="1000" dirty="0"/>
          </a:p>
        </p:txBody>
      </p:sp>
      <p:pic>
        <p:nvPicPr>
          <p:cNvPr id="47" name="Image 13" descr="/home/claude/pptx_build2/icon_dollar.png">
            <a:extLst>
              <a:ext uri="{FF2B5EF4-FFF2-40B4-BE49-F238E27FC236}">
                <a16:creationId xmlns:a16="http://schemas.microsoft.com/office/drawing/2014/main" id="{8F4C7F92-DDE6-CE06-C2BB-5B2D14952A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813048"/>
            <a:ext cx="237744" cy="237744"/>
          </a:xfrm>
          <a:prstGeom prst="rect">
            <a:avLst/>
          </a:prstGeom>
        </p:spPr>
      </p:pic>
      <p:sp>
        <p:nvSpPr>
          <p:cNvPr id="49" name="Text 12">
            <a:extLst>
              <a:ext uri="{FF2B5EF4-FFF2-40B4-BE49-F238E27FC236}">
                <a16:creationId xmlns:a16="http://schemas.microsoft.com/office/drawing/2014/main" id="{013DF275-B16B-216F-8CD9-7CBC9EAA5E73}"/>
              </a:ext>
            </a:extLst>
          </p:cNvPr>
          <p:cNvSpPr txBox="1"/>
          <p:nvPr/>
        </p:nvSpPr>
        <p:spPr>
          <a:xfrm>
            <a:off x="1033272" y="3794760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Cost-Effectiveness: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CV stack keeps setup cost low versus proprietary ANPR systems.</a:t>
            </a:r>
            <a:endParaRPr lang="en-US" sz="1000" dirty="0"/>
          </a:p>
        </p:txBody>
      </p:sp>
      <p:pic>
        <p:nvPicPr>
          <p:cNvPr id="51" name="Image 14" descr="/home/claude/pptx_build2/icon_shield.png">
            <a:extLst>
              <a:ext uri="{FF2B5EF4-FFF2-40B4-BE49-F238E27FC236}">
                <a16:creationId xmlns:a16="http://schemas.microsoft.com/office/drawing/2014/main" id="{C5363836-1F29-5918-F372-C4112FB5BA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581144"/>
            <a:ext cx="237744" cy="237744"/>
          </a:xfrm>
          <a:prstGeom prst="rect">
            <a:avLst/>
          </a:prstGeom>
        </p:spPr>
      </p:pic>
      <p:sp>
        <p:nvSpPr>
          <p:cNvPr id="53" name="Text 13">
            <a:extLst>
              <a:ext uri="{FF2B5EF4-FFF2-40B4-BE49-F238E27FC236}">
                <a16:creationId xmlns:a16="http://schemas.microsoft.com/office/drawing/2014/main" id="{9559DFF5-26E4-E713-7F8E-25D6D0E78998}"/>
              </a:ext>
            </a:extLst>
          </p:cNvPr>
          <p:cNvSpPr txBox="1"/>
          <p:nvPr/>
        </p:nvSpPr>
        <p:spPr>
          <a:xfrm>
            <a:off x="1033272" y="4562856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Integration: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 alerts, case management, and manual override for police control.</a:t>
            </a:r>
            <a:endParaRPr lang="en-US" sz="1000" dirty="0"/>
          </a:p>
        </p:txBody>
      </p:sp>
      <p:pic>
        <p:nvPicPr>
          <p:cNvPr id="55" name="Image 15" descr="/home/claude/pptx_build2/icon_search.png">
            <a:extLst>
              <a:ext uri="{FF2B5EF4-FFF2-40B4-BE49-F238E27FC236}">
                <a16:creationId xmlns:a16="http://schemas.microsoft.com/office/drawing/2014/main" id="{70936318-6B40-5DDB-A5B2-C590445CD6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5349240"/>
            <a:ext cx="237744" cy="237744"/>
          </a:xfrm>
          <a:prstGeom prst="rect">
            <a:avLst/>
          </a:prstGeom>
        </p:spPr>
      </p:pic>
      <p:sp>
        <p:nvSpPr>
          <p:cNvPr id="57" name="Text 14">
            <a:extLst>
              <a:ext uri="{FF2B5EF4-FFF2-40B4-BE49-F238E27FC236}">
                <a16:creationId xmlns:a16="http://schemas.microsoft.com/office/drawing/2014/main" id="{648380F1-9324-35AD-D307-EB21192FF2E0}"/>
              </a:ext>
            </a:extLst>
          </p:cNvPr>
          <p:cNvSpPr txBox="1"/>
          <p:nvPr/>
        </p:nvSpPr>
        <p:spPr>
          <a:xfrm>
            <a:off x="1033272" y="5330952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Readiness: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FIR records and camera metadata plug directly into the registry and blacklist.</a:t>
            </a:r>
            <a:endParaRPr lang="en-US" sz="1000" dirty="0"/>
          </a:p>
        </p:txBody>
      </p:sp>
      <p:pic>
        <p:nvPicPr>
          <p:cNvPr id="59" name="Image 16" descr="/home/claude/pptx_build2/icon_search.png">
            <a:extLst>
              <a:ext uri="{FF2B5EF4-FFF2-40B4-BE49-F238E27FC236}">
                <a16:creationId xmlns:a16="http://schemas.microsoft.com/office/drawing/2014/main" id="{80BEED48-EA25-1E2E-EE85-CFE3BDB8572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0560" y="2276856"/>
            <a:ext cx="237744" cy="237744"/>
          </a:xfrm>
          <a:prstGeom prst="rect">
            <a:avLst/>
          </a:prstGeom>
        </p:spPr>
      </p:pic>
      <p:sp>
        <p:nvSpPr>
          <p:cNvPr id="61" name="Text 15">
            <a:extLst>
              <a:ext uri="{FF2B5EF4-FFF2-40B4-BE49-F238E27FC236}">
                <a16:creationId xmlns:a16="http://schemas.microsoft.com/office/drawing/2014/main" id="{E407B8AB-9FF2-A602-3AD7-E2F3ED8C4FE2}"/>
              </a:ext>
            </a:extLst>
          </p:cNvPr>
          <p:cNvSpPr txBox="1"/>
          <p:nvPr/>
        </p:nvSpPr>
        <p:spPr>
          <a:xfrm>
            <a:off x="4828032" y="2258568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Concept: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AI traffic-surveillance systems already live in major Indian cities.</a:t>
            </a:r>
            <a:endParaRPr lang="en-US" sz="1000" dirty="0"/>
          </a:p>
        </p:txBody>
      </p:sp>
      <p:pic>
        <p:nvPicPr>
          <p:cNvPr id="63" name="Image 17" descr="/home/claude/pptx_build2/icon_handshake.png">
            <a:extLst>
              <a:ext uri="{FF2B5EF4-FFF2-40B4-BE49-F238E27FC236}">
                <a16:creationId xmlns:a16="http://schemas.microsoft.com/office/drawing/2014/main" id="{CF828B4C-7A04-CF6A-E67B-26ADD8F92D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0560" y="3044952"/>
            <a:ext cx="237744" cy="237744"/>
          </a:xfrm>
          <a:prstGeom prst="rect">
            <a:avLst/>
          </a:prstGeom>
        </p:spPr>
      </p:pic>
      <p:sp>
        <p:nvSpPr>
          <p:cNvPr id="17411" name="Text 16">
            <a:extLst>
              <a:ext uri="{FF2B5EF4-FFF2-40B4-BE49-F238E27FC236}">
                <a16:creationId xmlns:a16="http://schemas.microsoft.com/office/drawing/2014/main" id="{5B408B62-1FCB-D941-C800-DFF9BF1EF330}"/>
              </a:ext>
            </a:extLst>
          </p:cNvPr>
          <p:cNvSpPr txBox="1"/>
          <p:nvPr/>
        </p:nvSpPr>
        <p:spPr>
          <a:xfrm>
            <a:off x="4828032" y="3026664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Public Trust: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timestamped detection minimizes bias and gives auditable evidence.</a:t>
            </a:r>
            <a:endParaRPr lang="en-US" sz="1000" dirty="0"/>
          </a:p>
        </p:txBody>
      </p:sp>
      <p:pic>
        <p:nvPicPr>
          <p:cNvPr id="17413" name="Image 18" descr="/home/claude/pptx_build2/icon_users.png">
            <a:extLst>
              <a:ext uri="{FF2B5EF4-FFF2-40B4-BE49-F238E27FC236}">
                <a16:creationId xmlns:a16="http://schemas.microsoft.com/office/drawing/2014/main" id="{F21B187E-6FEA-96FC-A574-9A4B9A42DF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0560" y="3813048"/>
            <a:ext cx="237744" cy="237744"/>
          </a:xfrm>
          <a:prstGeom prst="rect">
            <a:avLst/>
          </a:prstGeom>
        </p:spPr>
      </p:pic>
      <p:sp>
        <p:nvSpPr>
          <p:cNvPr id="17415" name="Text 17">
            <a:extLst>
              <a:ext uri="{FF2B5EF4-FFF2-40B4-BE49-F238E27FC236}">
                <a16:creationId xmlns:a16="http://schemas.microsoft.com/office/drawing/2014/main" id="{761C7B6B-9ABE-FDC5-D85D-581EEC0C90C8}"/>
              </a:ext>
            </a:extLst>
          </p:cNvPr>
          <p:cNvSpPr txBox="1"/>
          <p:nvPr/>
        </p:nvSpPr>
        <p:spPr>
          <a:xfrm>
            <a:off x="4828032" y="3794760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Engagement: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keep control-room operators actively in the loop.</a:t>
            </a:r>
            <a:endParaRPr lang="en-US" sz="1000" dirty="0"/>
          </a:p>
        </p:txBody>
      </p:sp>
      <p:pic>
        <p:nvPicPr>
          <p:cNvPr id="17417" name="Image 19" descr="/home/claude/pptx_build2/icon_camera.png">
            <a:extLst>
              <a:ext uri="{FF2B5EF4-FFF2-40B4-BE49-F238E27FC236}">
                <a16:creationId xmlns:a16="http://schemas.microsoft.com/office/drawing/2014/main" id="{78E53DD1-2383-CC95-624D-A1250D82704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0560" y="4581144"/>
            <a:ext cx="237744" cy="237744"/>
          </a:xfrm>
          <a:prstGeom prst="rect">
            <a:avLst/>
          </a:prstGeom>
        </p:spPr>
      </p:pic>
      <p:sp>
        <p:nvSpPr>
          <p:cNvPr id="17419" name="Text 18">
            <a:extLst>
              <a:ext uri="{FF2B5EF4-FFF2-40B4-BE49-F238E27FC236}">
                <a16:creationId xmlns:a16="http://schemas.microsoft.com/office/drawing/2014/main" id="{A06F70BC-BDBF-CB05-B5FE-D75A29EB4FD8}"/>
              </a:ext>
            </a:extLst>
          </p:cNvPr>
          <p:cNvSpPr txBox="1"/>
          <p:nvPr/>
        </p:nvSpPr>
        <p:spPr>
          <a:xfrm>
            <a:off x="4828032" y="4562856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Accountability: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detection, alert, and case action is logged and traceable.</a:t>
            </a:r>
            <a:endParaRPr lang="en-US" sz="1000" dirty="0"/>
          </a:p>
        </p:txBody>
      </p:sp>
      <p:pic>
        <p:nvPicPr>
          <p:cNvPr id="17421" name="Image 20" descr="/home/claude/pptx_build2/icon_shield.png">
            <a:extLst>
              <a:ext uri="{FF2B5EF4-FFF2-40B4-BE49-F238E27FC236}">
                <a16:creationId xmlns:a16="http://schemas.microsoft.com/office/drawing/2014/main" id="{6058AD90-1C7F-C52D-0472-A5CF577AF5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0560" y="5349240"/>
            <a:ext cx="237744" cy="237744"/>
          </a:xfrm>
          <a:prstGeom prst="rect">
            <a:avLst/>
          </a:prstGeom>
        </p:spPr>
      </p:pic>
      <p:sp>
        <p:nvSpPr>
          <p:cNvPr id="17423" name="Text 19">
            <a:extLst>
              <a:ext uri="{FF2B5EF4-FFF2-40B4-BE49-F238E27FC236}">
                <a16:creationId xmlns:a16="http://schemas.microsoft.com/office/drawing/2014/main" id="{67A25DD5-DA07-58F7-8F7D-48D278CE9E62}"/>
              </a:ext>
            </a:extLst>
          </p:cNvPr>
          <p:cNvSpPr txBox="1"/>
          <p:nvPr/>
        </p:nvSpPr>
        <p:spPr>
          <a:xfrm>
            <a:off x="4828032" y="5330952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existing FIR-linked enforcement and investigation workflows, no new legislation needed.</a:t>
            </a:r>
            <a:endParaRPr lang="en-US" sz="1000" dirty="0"/>
          </a:p>
        </p:txBody>
      </p:sp>
      <p:pic>
        <p:nvPicPr>
          <p:cNvPr id="17425" name="Image 21" descr="/home/claude/pptx_build2/icon_dollar.png">
            <a:extLst>
              <a:ext uri="{FF2B5EF4-FFF2-40B4-BE49-F238E27FC236}">
                <a16:creationId xmlns:a16="http://schemas.microsoft.com/office/drawing/2014/main" id="{9F926D75-29BC-4EEB-177D-769ED54386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5320" y="2276856"/>
            <a:ext cx="237744" cy="237744"/>
          </a:xfrm>
          <a:prstGeom prst="rect">
            <a:avLst/>
          </a:prstGeom>
        </p:spPr>
      </p:pic>
      <p:sp>
        <p:nvSpPr>
          <p:cNvPr id="17427" name="Text 20">
            <a:extLst>
              <a:ext uri="{FF2B5EF4-FFF2-40B4-BE49-F238E27FC236}">
                <a16:creationId xmlns:a16="http://schemas.microsoft.com/office/drawing/2014/main" id="{BB142245-004F-14BD-6DAF-92296C772000}"/>
              </a:ext>
            </a:extLst>
          </p:cNvPr>
          <p:cNvSpPr txBox="1"/>
          <p:nvPr/>
        </p:nvSpPr>
        <p:spPr>
          <a:xfrm>
            <a:off x="8622792" y="2258568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Cost Savings: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manual monitoring, cutting personnel hours and cost.</a:t>
            </a:r>
            <a:endParaRPr lang="en-US" sz="1000" dirty="0"/>
          </a:p>
        </p:txBody>
      </p:sp>
      <p:pic>
        <p:nvPicPr>
          <p:cNvPr id="17429" name="Image 22" descr="/home/claude/pptx_build2/icon_chartline.png">
            <a:extLst>
              <a:ext uri="{FF2B5EF4-FFF2-40B4-BE49-F238E27FC236}">
                <a16:creationId xmlns:a16="http://schemas.microsoft.com/office/drawing/2014/main" id="{C4A9509E-993C-835D-587C-6CED9C69B8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3044952"/>
            <a:ext cx="237744" cy="237744"/>
          </a:xfrm>
          <a:prstGeom prst="rect">
            <a:avLst/>
          </a:prstGeom>
        </p:spPr>
      </p:pic>
      <p:sp>
        <p:nvSpPr>
          <p:cNvPr id="17431" name="Text 21">
            <a:extLst>
              <a:ext uri="{FF2B5EF4-FFF2-40B4-BE49-F238E27FC236}">
                <a16:creationId xmlns:a16="http://schemas.microsoft.com/office/drawing/2014/main" id="{77B485C0-67A3-64B0-E2FB-9BCD68FCCBB8}"/>
              </a:ext>
            </a:extLst>
          </p:cNvPr>
          <p:cNvSpPr txBox="1"/>
          <p:nvPr/>
        </p:nvSpPr>
        <p:spPr>
          <a:xfrm>
            <a:off x="8622792" y="3026664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Generation: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output integrates with e-challan systems for automated fines.</a:t>
            </a:r>
            <a:endParaRPr lang="en-US" sz="1000" dirty="0"/>
          </a:p>
        </p:txBody>
      </p:sp>
      <p:pic>
        <p:nvPicPr>
          <p:cNvPr id="17433" name="Image 23" descr="/home/claude/pptx_build2/icon_search.png">
            <a:extLst>
              <a:ext uri="{FF2B5EF4-FFF2-40B4-BE49-F238E27FC236}">
                <a16:creationId xmlns:a16="http://schemas.microsoft.com/office/drawing/2014/main" id="{F4942AE8-AA5F-26EB-10B1-8E8DD6AECBC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5320" y="3813048"/>
            <a:ext cx="237744" cy="237744"/>
          </a:xfrm>
          <a:prstGeom prst="rect">
            <a:avLst/>
          </a:prstGeom>
        </p:spPr>
      </p:pic>
      <p:sp>
        <p:nvSpPr>
          <p:cNvPr id="17435" name="Text 22">
            <a:extLst>
              <a:ext uri="{FF2B5EF4-FFF2-40B4-BE49-F238E27FC236}">
                <a16:creationId xmlns:a16="http://schemas.microsoft.com/office/drawing/2014/main" id="{619A1C6B-7E46-BEAE-C62D-E53D62298C52}"/>
              </a:ext>
            </a:extLst>
          </p:cNvPr>
          <p:cNvSpPr txBox="1"/>
          <p:nvPr/>
        </p:nvSpPr>
        <p:spPr>
          <a:xfrm>
            <a:off x="8622792" y="3794760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Vehicle Recovery: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Cross-camera trajectory search cuts investigation to minutes.</a:t>
            </a:r>
            <a:endParaRPr lang="en-US" sz="1000" dirty="0"/>
          </a:p>
        </p:txBody>
      </p:sp>
      <p:pic>
        <p:nvPicPr>
          <p:cNvPr id="17437" name="Image 24" descr="/home/claude/pptx_build2/icon_recycle.png">
            <a:extLst>
              <a:ext uri="{FF2B5EF4-FFF2-40B4-BE49-F238E27FC236}">
                <a16:creationId xmlns:a16="http://schemas.microsoft.com/office/drawing/2014/main" id="{32495143-6E6E-C575-B509-FD7682877B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320" y="4581144"/>
            <a:ext cx="237744" cy="237744"/>
          </a:xfrm>
          <a:prstGeom prst="rect">
            <a:avLst/>
          </a:prstGeom>
        </p:spPr>
      </p:pic>
      <p:sp>
        <p:nvSpPr>
          <p:cNvPr id="17439" name="Text 23">
            <a:extLst>
              <a:ext uri="{FF2B5EF4-FFF2-40B4-BE49-F238E27FC236}">
                <a16:creationId xmlns:a16="http://schemas.microsoft.com/office/drawing/2014/main" id="{40A7F3F8-C2D2-DF62-5FB0-2BBEC17A8DF9}"/>
              </a:ext>
            </a:extLst>
          </p:cNvPr>
          <p:cNvSpPr txBox="1"/>
          <p:nvPr/>
        </p:nvSpPr>
        <p:spPr>
          <a:xfrm>
            <a:off x="8622792" y="4562856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Scalability: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licenses to other cities with local config only.</a:t>
            </a:r>
            <a:endParaRPr lang="en-US" sz="1000" dirty="0"/>
          </a:p>
        </p:txBody>
      </p:sp>
      <p:pic>
        <p:nvPicPr>
          <p:cNvPr id="17441" name="Image 25" descr="/home/claude/pptx_build2/icon_users.png">
            <a:extLst>
              <a:ext uri="{FF2B5EF4-FFF2-40B4-BE49-F238E27FC236}">
                <a16:creationId xmlns:a16="http://schemas.microsoft.com/office/drawing/2014/main" id="{0462061F-1CBD-2705-B7E6-6C73FDFF652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75320" y="5349240"/>
            <a:ext cx="237744" cy="237744"/>
          </a:xfrm>
          <a:prstGeom prst="rect">
            <a:avLst/>
          </a:prstGeom>
        </p:spPr>
      </p:pic>
      <p:sp>
        <p:nvSpPr>
          <p:cNvPr id="17443" name="Text 24">
            <a:extLst>
              <a:ext uri="{FF2B5EF4-FFF2-40B4-BE49-F238E27FC236}">
                <a16:creationId xmlns:a16="http://schemas.microsoft.com/office/drawing/2014/main" id="{C6EFF9B3-2A32-96FF-66AD-36A2CC6BA299}"/>
              </a:ext>
            </a:extLst>
          </p:cNvPr>
          <p:cNvSpPr txBox="1"/>
          <p:nvPr/>
        </p:nvSpPr>
        <p:spPr>
          <a:xfrm>
            <a:off x="8622792" y="5330952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as a Product: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data supports signal timing and infra planning.</a:t>
            </a:r>
            <a:endParaRPr lang="en-US" sz="1000" dirty="0"/>
          </a:p>
        </p:txBody>
      </p:sp>
      <p:pic>
        <p:nvPicPr>
          <p:cNvPr id="17445" name="Image 26" descr="/home/claude/pptx_build2/icon_bus.png">
            <a:extLst>
              <a:ext uri="{FF2B5EF4-FFF2-40B4-BE49-F238E27FC236}">
                <a16:creationId xmlns:a16="http://schemas.microsoft.com/office/drawing/2014/main" id="{3FF93A75-DD57-FF0F-B110-CD7BA6B5981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81360" y="3337560"/>
            <a:ext cx="640080" cy="475488"/>
          </a:xfrm>
          <a:prstGeom prst="rect">
            <a:avLst/>
          </a:prstGeom>
        </p:spPr>
      </p:pic>
      <p:pic>
        <p:nvPicPr>
          <p:cNvPr id="17447" name="Image 27" descr="/home/claude/pptx_build2/icon_car.png">
            <a:extLst>
              <a:ext uri="{FF2B5EF4-FFF2-40B4-BE49-F238E27FC236}">
                <a16:creationId xmlns:a16="http://schemas.microsoft.com/office/drawing/2014/main" id="{2EC73D67-A1F8-9EE0-06EA-4B638E6C5C2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91088" y="3749040"/>
            <a:ext cx="475488" cy="347472"/>
          </a:xfrm>
          <a:prstGeom prst="rect">
            <a:avLst/>
          </a:prstGeom>
        </p:spPr>
      </p:pic>
      <p:pic>
        <p:nvPicPr>
          <p:cNvPr id="17449" name="Image 28" descr="/home/claude/pptx_build2/icon_camera.png">
            <a:extLst>
              <a:ext uri="{FF2B5EF4-FFF2-40B4-BE49-F238E27FC236}">
                <a16:creationId xmlns:a16="http://schemas.microsoft.com/office/drawing/2014/main" id="{264B7FB2-C1C3-458E-3621-47A77DD44E8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72800" y="4526280"/>
            <a:ext cx="411480" cy="411480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F2CB52F8-F629-3114-448D-51171EA79A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Neura</a:t>
            </a:r>
          </a:p>
          <a:p>
            <a:pPr algn="ctr"/>
            <a:r>
              <a:rPr lang="en-US" dirty="0"/>
              <a:t>Track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7425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30EFD6-FDA6-EF27-E1E2-E11E16B070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451" b="18800"/>
          <a:stretch>
            <a:fillRect/>
          </a:stretch>
        </p:blipFill>
        <p:spPr>
          <a:xfrm>
            <a:off x="7626096" y="1083580"/>
            <a:ext cx="4456175" cy="5205984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6C1BFBFA-63E1-2BF3-2881-9AD4A4FDD0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Neura</a:t>
            </a:r>
          </a:p>
          <a:p>
            <a:pPr algn="ctr"/>
            <a:r>
              <a:rPr lang="en-US" dirty="0"/>
              <a:t>Track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7BCCAF-F3E1-51FE-B87D-1AE5FA7857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871" b="10120"/>
          <a:stretch>
            <a:fillRect/>
          </a:stretch>
        </p:blipFill>
        <p:spPr>
          <a:xfrm>
            <a:off x="283465" y="1124778"/>
            <a:ext cx="7342631" cy="4379174"/>
          </a:xfrm>
          <a:prstGeom prst="rect">
            <a:avLst/>
          </a:prstGeom>
        </p:spPr>
      </p:pic>
      <p:pic>
        <p:nvPicPr>
          <p:cNvPr id="9" name="Graphic 8" descr="Open book with solid fill">
            <a:hlinkClick r:id="rId6"/>
            <a:extLst>
              <a:ext uri="{FF2B5EF4-FFF2-40B4-BE49-F238E27FC236}">
                <a16:creationId xmlns:a16="http://schemas.microsoft.com/office/drawing/2014/main" id="{6D4169DD-34DC-1DAC-F799-FF22C36DD6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41007" y="5533355"/>
            <a:ext cx="1176841" cy="72630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6" name="3D Model 15" descr="Red Foam Hand">
                <a:extLst>
                  <a:ext uri="{FF2B5EF4-FFF2-40B4-BE49-F238E27FC236}">
                    <a16:creationId xmlns:a16="http://schemas.microsoft.com/office/drawing/2014/main" id="{00B075F5-5E69-D69D-1E21-69F04B3D048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5102251"/>
                  </p:ext>
                </p:extLst>
              </p:nvPr>
            </p:nvGraphicFramePr>
            <p:xfrm rot="5622951">
              <a:off x="5396369" y="4935115"/>
              <a:ext cx="867438" cy="1792325"/>
            </p:xfrm>
            <a:graphic>
              <a:graphicData uri="http://schemas.microsoft.com/office/drawing/2017/model3d">
                <am3d:model3d r:embed="rId8">
                  <am3d:spPr>
                    <a:xfrm rot="5622951">
                      <a:off x="0" y="0"/>
                      <a:ext cx="867438" cy="1792325"/>
                    </a:xfrm>
                    <a:prstGeom prst="rect">
                      <a:avLst/>
                    </a:prstGeom>
                  </am3d:spPr>
                  <am3d:camera>
                    <am3d:pos x="0" y="0" z="523692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15165" d="1000000"/>
                    <am3d:preTrans dx="-75706" dy="-17654876" dz="50212"/>
                    <am3d:scale>
                      <am3d:sx n="1000000" d="1000000"/>
                      <am3d:sy n="1000000" d="1000000"/>
                      <am3d:sz n="1000000" d="1000000"/>
                    </am3d:scale>
                    <am3d:rot ax="2202960" ay="267454" az="-10600946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201570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6" name="3D Model 15" descr="Red Foam Hand">
                <a:extLst>
                  <a:ext uri="{FF2B5EF4-FFF2-40B4-BE49-F238E27FC236}">
                    <a16:creationId xmlns:a16="http://schemas.microsoft.com/office/drawing/2014/main" id="{00B075F5-5E69-D69D-1E21-69F04B3D048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5622951">
                <a:off x="5396369" y="4935115"/>
                <a:ext cx="867438" cy="1792325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BE3162A-BE4A-1D25-8B75-2AD945650C43}"/>
              </a:ext>
            </a:extLst>
          </p:cNvPr>
          <p:cNvSpPr txBox="1"/>
          <p:nvPr/>
        </p:nvSpPr>
        <p:spPr>
          <a:xfrm>
            <a:off x="2782635" y="6054446"/>
            <a:ext cx="2502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Click For More info</a:t>
            </a:r>
          </a:p>
        </p:txBody>
      </p:sp>
      <p:pic>
        <p:nvPicPr>
          <p:cNvPr id="2" name="Picture 1" descr="Github Logo - Free social media icons">
            <a:hlinkClick r:id="rId10"/>
            <a:extLst>
              <a:ext uri="{FF2B5EF4-FFF2-40B4-BE49-F238E27FC236}">
                <a16:creationId xmlns:a16="http://schemas.microsoft.com/office/drawing/2014/main" id="{84A8692D-0C70-E0F5-598C-0BE00DA2DC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3038" y="5556919"/>
            <a:ext cx="732645" cy="73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8">
            <a:extLst>
              <a:ext uri="{FF2B5EF4-FFF2-40B4-BE49-F238E27FC236}">
                <a16:creationId xmlns:a16="http://schemas.microsoft.com/office/drawing/2014/main" id="{0C5A7700-6CF6-5B47-A17F-93BEE8B49DEB}"/>
              </a:ext>
            </a:extLst>
          </p:cNvPr>
          <p:cNvSpPr txBox="1"/>
          <p:nvPr/>
        </p:nvSpPr>
        <p:spPr>
          <a:xfrm>
            <a:off x="1828194" y="1221669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5" name="Oval 34" descr="Your startup LOGO">
            <a:extLst>
              <a:ext uri="{FF2B5EF4-FFF2-40B4-BE49-F238E27FC236}">
                <a16:creationId xmlns:a16="http://schemas.microsoft.com/office/drawing/2014/main" id="{7EC041D6-4076-62B7-8616-ABEA9AC2E6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Neura</a:t>
            </a:r>
          </a:p>
          <a:p>
            <a:pPr algn="ctr"/>
            <a:r>
              <a:rPr lang="en-US" dirty="0"/>
              <a:t>Track</a:t>
            </a:r>
            <a:endParaRPr lang="en-IN" dirty="0"/>
          </a:p>
        </p:txBody>
      </p:sp>
      <p:sp>
        <p:nvSpPr>
          <p:cNvPr id="17585" name="TextBox 17584">
            <a:extLst>
              <a:ext uri="{FF2B5EF4-FFF2-40B4-BE49-F238E27FC236}">
                <a16:creationId xmlns:a16="http://schemas.microsoft.com/office/drawing/2014/main" id="{ED8E18B9-60E4-B11A-93FE-C2E31A8A97E2}"/>
              </a:ext>
            </a:extLst>
          </p:cNvPr>
          <p:cNvSpPr txBox="1"/>
          <p:nvPr/>
        </p:nvSpPr>
        <p:spPr>
          <a:xfrm>
            <a:off x="448056" y="1069849"/>
            <a:ext cx="3401568" cy="31701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700" b="1" dirty="0">
                <a:solidFill>
                  <a:srgbClr val="0D345B"/>
                </a:solidFill>
                <a:latin typeface="Arial"/>
              </a:rPr>
              <a:t>1  RESEARCH BASE</a:t>
            </a:r>
          </a:p>
        </p:txBody>
      </p:sp>
      <p:sp>
        <p:nvSpPr>
          <p:cNvPr id="17587" name="TextBox 17586">
            <a:extLst>
              <a:ext uri="{FF2B5EF4-FFF2-40B4-BE49-F238E27FC236}">
                <a16:creationId xmlns:a16="http://schemas.microsoft.com/office/drawing/2014/main" id="{F6DBF6E9-6AD4-A9DF-B767-2BF0929420DB}"/>
              </a:ext>
            </a:extLst>
          </p:cNvPr>
          <p:cNvSpPr txBox="1"/>
          <p:nvPr/>
        </p:nvSpPr>
        <p:spPr>
          <a:xfrm>
            <a:off x="6062472" y="914400"/>
            <a:ext cx="480060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700" b="1">
                <a:solidFill>
                  <a:srgbClr val="0D345B"/>
                </a:solidFill>
                <a:latin typeface="Arial"/>
              </a:rPr>
              <a:t>2  TRACE-X RESEARCH EXTENSION</a:t>
            </a:r>
          </a:p>
        </p:txBody>
      </p:sp>
      <p:sp>
        <p:nvSpPr>
          <p:cNvPr id="17589" name="Rounded Rectangle 8">
            <a:extLst>
              <a:ext uri="{FF2B5EF4-FFF2-40B4-BE49-F238E27FC236}">
                <a16:creationId xmlns:a16="http://schemas.microsoft.com/office/drawing/2014/main" id="{CE8223C8-9895-EF2C-82CE-EEECF1328773}"/>
              </a:ext>
            </a:extLst>
          </p:cNvPr>
          <p:cNvSpPr/>
          <p:nvPr/>
        </p:nvSpPr>
        <p:spPr>
          <a:xfrm>
            <a:off x="301752" y="1380744"/>
            <a:ext cx="5321808" cy="731520"/>
          </a:xfrm>
          <a:prstGeom prst="roundRect">
            <a:avLst/>
          </a:prstGeom>
          <a:solidFill>
            <a:srgbClr val="E8F4FF"/>
          </a:solidFill>
          <a:ln w="13970">
            <a:solidFill>
              <a:srgbClr val="9D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91" name="Rectangle 17590">
            <a:extLst>
              <a:ext uri="{FF2B5EF4-FFF2-40B4-BE49-F238E27FC236}">
                <a16:creationId xmlns:a16="http://schemas.microsoft.com/office/drawing/2014/main" id="{EA2FC673-31B1-F0FF-980C-2F3582CBAD0A}"/>
              </a:ext>
            </a:extLst>
          </p:cNvPr>
          <p:cNvSpPr/>
          <p:nvPr/>
        </p:nvSpPr>
        <p:spPr>
          <a:xfrm>
            <a:off x="310896" y="1362456"/>
            <a:ext cx="73152" cy="731520"/>
          </a:xfrm>
          <a:prstGeom prst="rect">
            <a:avLst/>
          </a:prstGeom>
          <a:solidFill>
            <a:srgbClr val="CF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93" name="TextBox 17592">
            <a:extLst>
              <a:ext uri="{FF2B5EF4-FFF2-40B4-BE49-F238E27FC236}">
                <a16:creationId xmlns:a16="http://schemas.microsoft.com/office/drawing/2014/main" id="{6AD331CB-967F-63CC-9FFE-DDCCFD8F023B}"/>
              </a:ext>
            </a:extLst>
          </p:cNvPr>
          <p:cNvSpPr txBox="1"/>
          <p:nvPr/>
        </p:nvSpPr>
        <p:spPr>
          <a:xfrm>
            <a:off x="493776" y="1335024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 b="1">
                <a:solidFill>
                  <a:srgbClr val="0D345B"/>
                </a:solidFill>
                <a:latin typeface="Arial"/>
                <a:hlinkClick r:id="rId4"/>
              </a:rPr>
              <a:t>Indian ANPR • 2022</a:t>
            </a:r>
          </a:p>
        </p:txBody>
      </p:sp>
      <p:sp>
        <p:nvSpPr>
          <p:cNvPr id="17595" name="TextBox 17594">
            <a:extLst>
              <a:ext uri="{FF2B5EF4-FFF2-40B4-BE49-F238E27FC236}">
                <a16:creationId xmlns:a16="http://schemas.microsoft.com/office/drawing/2014/main" id="{FF94942C-E354-CE50-C40A-34493B07DF52}"/>
              </a:ext>
            </a:extLst>
          </p:cNvPr>
          <p:cNvSpPr txBox="1"/>
          <p:nvPr/>
        </p:nvSpPr>
        <p:spPr>
          <a:xfrm>
            <a:off x="493776" y="1572768"/>
            <a:ext cx="489204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40" b="0">
                <a:solidFill>
                  <a:srgbClr val="5F5F5F"/>
                </a:solidFill>
                <a:latin typeface="Arial"/>
              </a:rPr>
              <a:t>Indian plate diversity makes direct transfer from non-Indian datasets difficult.</a:t>
            </a:r>
          </a:p>
        </p:txBody>
      </p:sp>
      <p:sp>
        <p:nvSpPr>
          <p:cNvPr id="17597" name="Rounded Rectangle 12">
            <a:extLst>
              <a:ext uri="{FF2B5EF4-FFF2-40B4-BE49-F238E27FC236}">
                <a16:creationId xmlns:a16="http://schemas.microsoft.com/office/drawing/2014/main" id="{5A31EDB5-9FE6-4E49-5FBD-D0760FEE6CDF}"/>
              </a:ext>
            </a:extLst>
          </p:cNvPr>
          <p:cNvSpPr/>
          <p:nvPr/>
        </p:nvSpPr>
        <p:spPr>
          <a:xfrm>
            <a:off x="329184" y="2130552"/>
            <a:ext cx="5321808" cy="731520"/>
          </a:xfrm>
          <a:prstGeom prst="roundRect">
            <a:avLst/>
          </a:prstGeom>
          <a:solidFill>
            <a:srgbClr val="E8F4FF"/>
          </a:solidFill>
          <a:ln w="13970">
            <a:solidFill>
              <a:srgbClr val="9D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99" name="Rectangle 17598">
            <a:extLst>
              <a:ext uri="{FF2B5EF4-FFF2-40B4-BE49-F238E27FC236}">
                <a16:creationId xmlns:a16="http://schemas.microsoft.com/office/drawing/2014/main" id="{C17D38BB-4299-E5AD-7EFD-09BBBE1BE8D0}"/>
              </a:ext>
            </a:extLst>
          </p:cNvPr>
          <p:cNvSpPr/>
          <p:nvPr/>
        </p:nvSpPr>
        <p:spPr>
          <a:xfrm>
            <a:off x="329184" y="2130552"/>
            <a:ext cx="73152" cy="731520"/>
          </a:xfrm>
          <a:prstGeom prst="rect">
            <a:avLst/>
          </a:prstGeom>
          <a:solidFill>
            <a:srgbClr val="1A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01" name="TextBox 17600">
            <a:extLst>
              <a:ext uri="{FF2B5EF4-FFF2-40B4-BE49-F238E27FC236}">
                <a16:creationId xmlns:a16="http://schemas.microsoft.com/office/drawing/2014/main" id="{06819E9B-03C3-8EB7-6A9C-C7384FB2A3A5}"/>
              </a:ext>
            </a:extLst>
          </p:cNvPr>
          <p:cNvSpPr txBox="1"/>
          <p:nvPr/>
        </p:nvSpPr>
        <p:spPr>
          <a:xfrm>
            <a:off x="493776" y="21671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 b="1">
                <a:solidFill>
                  <a:srgbClr val="0D345B"/>
                </a:solidFill>
                <a:latin typeface="Arial"/>
                <a:hlinkClick r:id="rId5"/>
              </a:rPr>
              <a:t>Multi-Camera Tracking • 2019</a:t>
            </a:r>
          </a:p>
        </p:txBody>
      </p:sp>
      <p:sp>
        <p:nvSpPr>
          <p:cNvPr id="17603" name="TextBox 17602">
            <a:extLst>
              <a:ext uri="{FF2B5EF4-FFF2-40B4-BE49-F238E27FC236}">
                <a16:creationId xmlns:a16="http://schemas.microsoft.com/office/drawing/2014/main" id="{7D1E5AB8-1E55-273C-C08E-76751E18D7FD}"/>
              </a:ext>
            </a:extLst>
          </p:cNvPr>
          <p:cNvSpPr txBox="1"/>
          <p:nvPr/>
        </p:nvSpPr>
        <p:spPr>
          <a:xfrm>
            <a:off x="493776" y="2404872"/>
            <a:ext cx="489204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40" b="0">
                <a:solidFill>
                  <a:srgbClr val="5F5F5F"/>
                </a:solidFill>
                <a:latin typeface="Arial"/>
              </a:rPr>
              <a:t>Visual + orientation + spatial-temporal cues improve vehicle tracking across cameras.</a:t>
            </a:r>
          </a:p>
        </p:txBody>
      </p:sp>
      <p:sp>
        <p:nvSpPr>
          <p:cNvPr id="17605" name="Rounded Rectangle 16">
            <a:extLst>
              <a:ext uri="{FF2B5EF4-FFF2-40B4-BE49-F238E27FC236}">
                <a16:creationId xmlns:a16="http://schemas.microsoft.com/office/drawing/2014/main" id="{285F1E0C-1ECE-8350-B077-57466801E159}"/>
              </a:ext>
            </a:extLst>
          </p:cNvPr>
          <p:cNvSpPr/>
          <p:nvPr/>
        </p:nvSpPr>
        <p:spPr>
          <a:xfrm>
            <a:off x="329184" y="2962656"/>
            <a:ext cx="5321808" cy="731520"/>
          </a:xfrm>
          <a:prstGeom prst="roundRect">
            <a:avLst/>
          </a:prstGeom>
          <a:solidFill>
            <a:srgbClr val="E8F4FF"/>
          </a:solidFill>
          <a:ln w="13970">
            <a:solidFill>
              <a:srgbClr val="9D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607" name="Rectangle 17606">
            <a:extLst>
              <a:ext uri="{FF2B5EF4-FFF2-40B4-BE49-F238E27FC236}">
                <a16:creationId xmlns:a16="http://schemas.microsoft.com/office/drawing/2014/main" id="{8C268A6C-D510-0938-A819-FDD3AE51BB61}"/>
              </a:ext>
            </a:extLst>
          </p:cNvPr>
          <p:cNvSpPr/>
          <p:nvPr/>
        </p:nvSpPr>
        <p:spPr>
          <a:xfrm>
            <a:off x="329184" y="2962656"/>
            <a:ext cx="73152" cy="731520"/>
          </a:xfrm>
          <a:prstGeom prst="rect">
            <a:avLst/>
          </a:prstGeom>
          <a:solidFill>
            <a:srgbClr val="268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09" name="TextBox 17608">
            <a:extLst>
              <a:ext uri="{FF2B5EF4-FFF2-40B4-BE49-F238E27FC236}">
                <a16:creationId xmlns:a16="http://schemas.microsoft.com/office/drawing/2014/main" id="{E7480ACA-43F3-377F-42FB-A050F5430A54}"/>
              </a:ext>
            </a:extLst>
          </p:cNvPr>
          <p:cNvSpPr txBox="1"/>
          <p:nvPr/>
        </p:nvSpPr>
        <p:spPr>
          <a:xfrm>
            <a:off x="493776" y="2999232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 b="1">
                <a:solidFill>
                  <a:srgbClr val="0D345B"/>
                </a:solidFill>
                <a:latin typeface="Arial"/>
                <a:hlinkClick r:id="rId6"/>
              </a:rPr>
              <a:t>City-Scale MCT • 2021</a:t>
            </a:r>
          </a:p>
        </p:txBody>
      </p:sp>
      <p:sp>
        <p:nvSpPr>
          <p:cNvPr id="17611" name="TextBox 17610">
            <a:extLst>
              <a:ext uri="{FF2B5EF4-FFF2-40B4-BE49-F238E27FC236}">
                <a16:creationId xmlns:a16="http://schemas.microsoft.com/office/drawing/2014/main" id="{ADA04238-2C08-525A-7AA5-CA28CBCF4890}"/>
              </a:ext>
            </a:extLst>
          </p:cNvPr>
          <p:cNvSpPr txBox="1"/>
          <p:nvPr/>
        </p:nvSpPr>
        <p:spPr>
          <a:xfrm>
            <a:off x="493776" y="3236976"/>
            <a:ext cx="489204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40" b="0">
                <a:solidFill>
                  <a:srgbClr val="5F5F5F"/>
                </a:solidFill>
                <a:latin typeface="Arial"/>
              </a:rPr>
              <a:t>Re-ID + track matching + spatial-temporal information support city-scale traffic management.</a:t>
            </a:r>
          </a:p>
        </p:txBody>
      </p:sp>
      <p:sp>
        <p:nvSpPr>
          <p:cNvPr id="17613" name="Rounded Rectangle 20">
            <a:extLst>
              <a:ext uri="{FF2B5EF4-FFF2-40B4-BE49-F238E27FC236}">
                <a16:creationId xmlns:a16="http://schemas.microsoft.com/office/drawing/2014/main" id="{C6B4E7F1-ABA7-D9BE-7977-32D357A63232}"/>
              </a:ext>
            </a:extLst>
          </p:cNvPr>
          <p:cNvSpPr/>
          <p:nvPr/>
        </p:nvSpPr>
        <p:spPr>
          <a:xfrm>
            <a:off x="329184" y="3794760"/>
            <a:ext cx="5321808" cy="731520"/>
          </a:xfrm>
          <a:prstGeom prst="roundRect">
            <a:avLst/>
          </a:prstGeom>
          <a:solidFill>
            <a:srgbClr val="E8F4FF"/>
          </a:solidFill>
          <a:ln w="13970">
            <a:solidFill>
              <a:srgbClr val="9D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15" name="Rectangle 17614">
            <a:extLst>
              <a:ext uri="{FF2B5EF4-FFF2-40B4-BE49-F238E27FC236}">
                <a16:creationId xmlns:a16="http://schemas.microsoft.com/office/drawing/2014/main" id="{6E8BD457-E13C-34FF-721C-03F8015F9A80}"/>
              </a:ext>
            </a:extLst>
          </p:cNvPr>
          <p:cNvSpPr/>
          <p:nvPr/>
        </p:nvSpPr>
        <p:spPr>
          <a:xfrm>
            <a:off x="329184" y="3794760"/>
            <a:ext cx="73152" cy="731520"/>
          </a:xfrm>
          <a:prstGeom prst="rect">
            <a:avLst/>
          </a:prstGeom>
          <a:solidFill>
            <a:srgbClr val="B9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17" name="TextBox 17616">
            <a:extLst>
              <a:ext uri="{FF2B5EF4-FFF2-40B4-BE49-F238E27FC236}">
                <a16:creationId xmlns:a16="http://schemas.microsoft.com/office/drawing/2014/main" id="{902C1589-FE2B-749A-6649-B0A9B05BBC6B}"/>
              </a:ext>
            </a:extLst>
          </p:cNvPr>
          <p:cNvSpPr txBox="1"/>
          <p:nvPr/>
        </p:nvSpPr>
        <p:spPr>
          <a:xfrm>
            <a:off x="493776" y="3831336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130" b="1" dirty="0">
                <a:solidFill>
                  <a:srgbClr val="0D345B"/>
                </a:solidFill>
                <a:latin typeface="Arial"/>
                <a:hlinkClick r:id="rId7"/>
              </a:rPr>
              <a:t>Intelligent Camera Selection • 2022</a:t>
            </a:r>
            <a:endParaRPr sz="1130" b="1" dirty="0">
              <a:solidFill>
                <a:srgbClr val="0D345B"/>
              </a:solidFill>
              <a:latin typeface="Arial"/>
              <a:hlinkClick r:id="rId7"/>
            </a:endParaRPr>
          </a:p>
        </p:txBody>
      </p:sp>
      <p:sp>
        <p:nvSpPr>
          <p:cNvPr id="17619" name="TextBox 17618">
            <a:extLst>
              <a:ext uri="{FF2B5EF4-FFF2-40B4-BE49-F238E27FC236}">
                <a16:creationId xmlns:a16="http://schemas.microsoft.com/office/drawing/2014/main" id="{8CDE5A22-786B-51C7-BC9B-C975F69CFF6F}"/>
              </a:ext>
            </a:extLst>
          </p:cNvPr>
          <p:cNvSpPr txBox="1"/>
          <p:nvPr/>
        </p:nvSpPr>
        <p:spPr>
          <a:xfrm>
            <a:off x="493776" y="4069080"/>
            <a:ext cx="489204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40" b="0">
                <a:solidFill>
                  <a:srgbClr val="5F5F5F"/>
                </a:solidFill>
                <a:latin typeface="Arial"/>
              </a:rPr>
              <a:t>Camera-selection policies can reduce unnecessary Re-ID queries and computation.</a:t>
            </a:r>
          </a:p>
        </p:txBody>
      </p:sp>
      <p:sp>
        <p:nvSpPr>
          <p:cNvPr id="17621" name="Rounded Rectangle 24">
            <a:extLst>
              <a:ext uri="{FF2B5EF4-FFF2-40B4-BE49-F238E27FC236}">
                <a16:creationId xmlns:a16="http://schemas.microsoft.com/office/drawing/2014/main" id="{7D5CE0C6-FB99-0F2E-F837-B9AB5121FCF1}"/>
              </a:ext>
            </a:extLst>
          </p:cNvPr>
          <p:cNvSpPr/>
          <p:nvPr/>
        </p:nvSpPr>
        <p:spPr>
          <a:xfrm>
            <a:off x="6062472" y="1298448"/>
            <a:ext cx="4828032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D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23" name="Oval 17622">
            <a:extLst>
              <a:ext uri="{FF2B5EF4-FFF2-40B4-BE49-F238E27FC236}">
                <a16:creationId xmlns:a16="http://schemas.microsoft.com/office/drawing/2014/main" id="{9532EFB2-C5BE-0C57-B6FE-A1B8A1C964E2}"/>
              </a:ext>
            </a:extLst>
          </p:cNvPr>
          <p:cNvSpPr/>
          <p:nvPr/>
        </p:nvSpPr>
        <p:spPr>
          <a:xfrm>
            <a:off x="6199632" y="1417320"/>
            <a:ext cx="384048" cy="384048"/>
          </a:xfrm>
          <a:prstGeom prst="ellipse">
            <a:avLst/>
          </a:prstGeom>
          <a:solidFill>
            <a:srgbClr val="1A6FBE"/>
          </a:solidFill>
          <a:ln>
            <a:solidFill>
              <a:srgbClr val="1A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25" name="TextBox 17624">
            <a:extLst>
              <a:ext uri="{FF2B5EF4-FFF2-40B4-BE49-F238E27FC236}">
                <a16:creationId xmlns:a16="http://schemas.microsoft.com/office/drawing/2014/main" id="{B119724D-618F-4162-D888-4D401E4C92BC}"/>
              </a:ext>
            </a:extLst>
          </p:cNvPr>
          <p:cNvSpPr txBox="1"/>
          <p:nvPr/>
        </p:nvSpPr>
        <p:spPr>
          <a:xfrm>
            <a:off x="6199632" y="1417320"/>
            <a:ext cx="384048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627" name="TextBox 17626">
            <a:extLst>
              <a:ext uri="{FF2B5EF4-FFF2-40B4-BE49-F238E27FC236}">
                <a16:creationId xmlns:a16="http://schemas.microsoft.com/office/drawing/2014/main" id="{72622790-4B89-8B86-9D9D-B9F5805D067F}"/>
              </a:ext>
            </a:extLst>
          </p:cNvPr>
          <p:cNvSpPr txBox="1"/>
          <p:nvPr/>
        </p:nvSpPr>
        <p:spPr>
          <a:xfrm>
            <a:off x="6675120" y="1353312"/>
            <a:ext cx="3977639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20" b="1">
                <a:solidFill>
                  <a:srgbClr val="0D345B"/>
                </a:solidFill>
                <a:latin typeface="Arial"/>
              </a:rPr>
              <a:t>A. Confidence-aware evidence</a:t>
            </a:r>
          </a:p>
        </p:txBody>
      </p:sp>
      <p:sp>
        <p:nvSpPr>
          <p:cNvPr id="17629" name="TextBox 17628">
            <a:extLst>
              <a:ext uri="{FF2B5EF4-FFF2-40B4-BE49-F238E27FC236}">
                <a16:creationId xmlns:a16="http://schemas.microsoft.com/office/drawing/2014/main" id="{42BFEB52-7F3E-8411-84E2-61FDD1205447}"/>
              </a:ext>
            </a:extLst>
          </p:cNvPr>
          <p:cNvSpPr txBox="1"/>
          <p:nvPr/>
        </p:nvSpPr>
        <p:spPr>
          <a:xfrm>
            <a:off x="6675120" y="1591056"/>
            <a:ext cx="393192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30" b="0">
                <a:solidFill>
                  <a:srgbClr val="5F5F5F"/>
                </a:solidFill>
                <a:latin typeface="Arial"/>
              </a:rPr>
              <a:t>Every observation carries OCR, image-quality and camera-health confidence.</a:t>
            </a:r>
          </a:p>
        </p:txBody>
      </p:sp>
      <p:sp>
        <p:nvSpPr>
          <p:cNvPr id="17631" name="Rounded Rectangle 29">
            <a:extLst>
              <a:ext uri="{FF2B5EF4-FFF2-40B4-BE49-F238E27FC236}">
                <a16:creationId xmlns:a16="http://schemas.microsoft.com/office/drawing/2014/main" id="{32D048D8-67E7-7988-DFCE-D15C49DBECDE}"/>
              </a:ext>
            </a:extLst>
          </p:cNvPr>
          <p:cNvSpPr/>
          <p:nvPr/>
        </p:nvSpPr>
        <p:spPr>
          <a:xfrm>
            <a:off x="6062472" y="2130552"/>
            <a:ext cx="4828032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D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33" name="Oval 17632">
            <a:extLst>
              <a:ext uri="{FF2B5EF4-FFF2-40B4-BE49-F238E27FC236}">
                <a16:creationId xmlns:a16="http://schemas.microsoft.com/office/drawing/2014/main" id="{10FAF60A-E70B-2F46-A211-106D13FBC74B}"/>
              </a:ext>
            </a:extLst>
          </p:cNvPr>
          <p:cNvSpPr/>
          <p:nvPr/>
        </p:nvSpPr>
        <p:spPr>
          <a:xfrm>
            <a:off x="6199632" y="2249424"/>
            <a:ext cx="384048" cy="384048"/>
          </a:xfrm>
          <a:prstGeom prst="ellipse">
            <a:avLst/>
          </a:prstGeom>
          <a:solidFill>
            <a:srgbClr val="26825D"/>
          </a:solidFill>
          <a:ln>
            <a:solidFill>
              <a:srgbClr val="268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35" name="TextBox 17634">
            <a:extLst>
              <a:ext uri="{FF2B5EF4-FFF2-40B4-BE49-F238E27FC236}">
                <a16:creationId xmlns:a16="http://schemas.microsoft.com/office/drawing/2014/main" id="{7CA0F124-C761-FF81-AAE7-E33B7047A708}"/>
              </a:ext>
            </a:extLst>
          </p:cNvPr>
          <p:cNvSpPr txBox="1"/>
          <p:nvPr/>
        </p:nvSpPr>
        <p:spPr>
          <a:xfrm>
            <a:off x="6199632" y="2249424"/>
            <a:ext cx="384048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637" name="TextBox 17636">
            <a:extLst>
              <a:ext uri="{FF2B5EF4-FFF2-40B4-BE49-F238E27FC236}">
                <a16:creationId xmlns:a16="http://schemas.microsoft.com/office/drawing/2014/main" id="{8F896C4E-3AE9-2504-1E12-0D032617B5E3}"/>
              </a:ext>
            </a:extLst>
          </p:cNvPr>
          <p:cNvSpPr txBox="1"/>
          <p:nvPr/>
        </p:nvSpPr>
        <p:spPr>
          <a:xfrm>
            <a:off x="6675120" y="2185416"/>
            <a:ext cx="3977639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20" b="1">
                <a:solidFill>
                  <a:srgbClr val="0D345B"/>
                </a:solidFill>
                <a:latin typeface="Arial"/>
              </a:rPr>
              <a:t>B. Multi-hypothesis journey</a:t>
            </a:r>
          </a:p>
        </p:txBody>
      </p:sp>
      <p:sp>
        <p:nvSpPr>
          <p:cNvPr id="17639" name="TextBox 17638">
            <a:extLst>
              <a:ext uri="{FF2B5EF4-FFF2-40B4-BE49-F238E27FC236}">
                <a16:creationId xmlns:a16="http://schemas.microsoft.com/office/drawing/2014/main" id="{9C9C8A11-4995-0EC6-9628-11936F5E49BB}"/>
              </a:ext>
            </a:extLst>
          </p:cNvPr>
          <p:cNvSpPr txBox="1"/>
          <p:nvPr/>
        </p:nvSpPr>
        <p:spPr>
          <a:xfrm>
            <a:off x="6675120" y="2423160"/>
            <a:ext cx="393192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30" b="0">
                <a:solidFill>
                  <a:srgbClr val="5F5F5F"/>
                </a:solidFill>
                <a:latin typeface="Arial"/>
              </a:rPr>
              <a:t>Keep competing routes instead of forcing one vehicle path when evidence is ambiguous.</a:t>
            </a:r>
          </a:p>
        </p:txBody>
      </p:sp>
      <p:sp>
        <p:nvSpPr>
          <p:cNvPr id="17641" name="Rounded Rectangle 34">
            <a:extLst>
              <a:ext uri="{FF2B5EF4-FFF2-40B4-BE49-F238E27FC236}">
                <a16:creationId xmlns:a16="http://schemas.microsoft.com/office/drawing/2014/main" id="{E518C678-324E-1850-F190-56DDD68F19D6}"/>
              </a:ext>
            </a:extLst>
          </p:cNvPr>
          <p:cNvSpPr/>
          <p:nvPr/>
        </p:nvSpPr>
        <p:spPr>
          <a:xfrm>
            <a:off x="6062472" y="2962656"/>
            <a:ext cx="4828032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D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43" name="Oval 17642">
            <a:extLst>
              <a:ext uri="{FF2B5EF4-FFF2-40B4-BE49-F238E27FC236}">
                <a16:creationId xmlns:a16="http://schemas.microsoft.com/office/drawing/2014/main" id="{B73E5F79-2168-3D62-C75D-8CEB307159B8}"/>
              </a:ext>
            </a:extLst>
          </p:cNvPr>
          <p:cNvSpPr/>
          <p:nvPr/>
        </p:nvSpPr>
        <p:spPr>
          <a:xfrm>
            <a:off x="6199632" y="3081528"/>
            <a:ext cx="384048" cy="384048"/>
          </a:xfrm>
          <a:prstGeom prst="ellipse">
            <a:avLst/>
          </a:prstGeom>
          <a:solidFill>
            <a:srgbClr val="B94040"/>
          </a:solidFill>
          <a:ln>
            <a:solidFill>
              <a:srgbClr val="B9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45" name="TextBox 17644">
            <a:extLst>
              <a:ext uri="{FF2B5EF4-FFF2-40B4-BE49-F238E27FC236}">
                <a16:creationId xmlns:a16="http://schemas.microsoft.com/office/drawing/2014/main" id="{5469EDCB-2F35-52EF-4C8A-ECAAA2FB0366}"/>
              </a:ext>
            </a:extLst>
          </p:cNvPr>
          <p:cNvSpPr txBox="1"/>
          <p:nvPr/>
        </p:nvSpPr>
        <p:spPr>
          <a:xfrm>
            <a:off x="6199632" y="3081528"/>
            <a:ext cx="384048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647" name="TextBox 17646">
            <a:extLst>
              <a:ext uri="{FF2B5EF4-FFF2-40B4-BE49-F238E27FC236}">
                <a16:creationId xmlns:a16="http://schemas.microsoft.com/office/drawing/2014/main" id="{8EE2066A-F2B1-DC02-FD2F-39561BC6860F}"/>
              </a:ext>
            </a:extLst>
          </p:cNvPr>
          <p:cNvSpPr txBox="1"/>
          <p:nvPr/>
        </p:nvSpPr>
        <p:spPr>
          <a:xfrm>
            <a:off x="6675120" y="3017520"/>
            <a:ext cx="3977639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20" b="1">
                <a:solidFill>
                  <a:srgbClr val="0D345B"/>
                </a:solidFill>
                <a:latin typeface="Arial"/>
              </a:rPr>
              <a:t>C. Negative + contradictory evidence</a:t>
            </a:r>
          </a:p>
        </p:txBody>
      </p:sp>
      <p:sp>
        <p:nvSpPr>
          <p:cNvPr id="17649" name="TextBox 17648">
            <a:extLst>
              <a:ext uri="{FF2B5EF4-FFF2-40B4-BE49-F238E27FC236}">
                <a16:creationId xmlns:a16="http://schemas.microsoft.com/office/drawing/2014/main" id="{B008F4A8-5560-DE29-3A07-771D176F9F85}"/>
              </a:ext>
            </a:extLst>
          </p:cNvPr>
          <p:cNvSpPr txBox="1"/>
          <p:nvPr/>
        </p:nvSpPr>
        <p:spPr>
          <a:xfrm>
            <a:off x="6675120" y="3255264"/>
            <a:ext cx="393192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30" b="0">
                <a:solidFill>
                  <a:srgbClr val="5F5F5F"/>
                </a:solidFill>
                <a:latin typeface="Arial"/>
              </a:rPr>
              <a:t>Represent expected-but-unseen observations and reject physically inconsistent transitions.</a:t>
            </a:r>
          </a:p>
        </p:txBody>
      </p:sp>
      <p:sp>
        <p:nvSpPr>
          <p:cNvPr id="17651" name="Rounded Rectangle 39">
            <a:extLst>
              <a:ext uri="{FF2B5EF4-FFF2-40B4-BE49-F238E27FC236}">
                <a16:creationId xmlns:a16="http://schemas.microsoft.com/office/drawing/2014/main" id="{6E58AFBB-CE68-7A2D-D2C5-375133C046A4}"/>
              </a:ext>
            </a:extLst>
          </p:cNvPr>
          <p:cNvSpPr/>
          <p:nvPr/>
        </p:nvSpPr>
        <p:spPr>
          <a:xfrm>
            <a:off x="6062472" y="3794760"/>
            <a:ext cx="4828032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D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53" name="Oval 17652">
            <a:extLst>
              <a:ext uri="{FF2B5EF4-FFF2-40B4-BE49-F238E27FC236}">
                <a16:creationId xmlns:a16="http://schemas.microsoft.com/office/drawing/2014/main" id="{DDC9A67E-83D8-3A08-D02F-89577CF074DF}"/>
              </a:ext>
            </a:extLst>
          </p:cNvPr>
          <p:cNvSpPr/>
          <p:nvPr/>
        </p:nvSpPr>
        <p:spPr>
          <a:xfrm>
            <a:off x="6199632" y="3913632"/>
            <a:ext cx="384048" cy="384048"/>
          </a:xfrm>
          <a:prstGeom prst="ellipse">
            <a:avLst/>
          </a:prstGeom>
          <a:solidFill>
            <a:srgbClr val="CF9620"/>
          </a:solidFill>
          <a:ln>
            <a:solidFill>
              <a:srgbClr val="CF9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55" name="TextBox 17654">
            <a:extLst>
              <a:ext uri="{FF2B5EF4-FFF2-40B4-BE49-F238E27FC236}">
                <a16:creationId xmlns:a16="http://schemas.microsoft.com/office/drawing/2014/main" id="{EB254B8A-A780-8965-3721-9D47D2268D2B}"/>
              </a:ext>
            </a:extLst>
          </p:cNvPr>
          <p:cNvSpPr txBox="1"/>
          <p:nvPr/>
        </p:nvSpPr>
        <p:spPr>
          <a:xfrm>
            <a:off x="6199632" y="3913632"/>
            <a:ext cx="384048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657" name="TextBox 17656">
            <a:extLst>
              <a:ext uri="{FF2B5EF4-FFF2-40B4-BE49-F238E27FC236}">
                <a16:creationId xmlns:a16="http://schemas.microsoft.com/office/drawing/2014/main" id="{CF9554DC-E7E5-50AE-58E2-49824E5D6326}"/>
              </a:ext>
            </a:extLst>
          </p:cNvPr>
          <p:cNvSpPr txBox="1"/>
          <p:nvPr/>
        </p:nvSpPr>
        <p:spPr>
          <a:xfrm>
            <a:off x="6675120" y="3849624"/>
            <a:ext cx="3977639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20" b="1">
                <a:solidFill>
                  <a:srgbClr val="0D345B"/>
                </a:solidFill>
                <a:latin typeface="Arial"/>
              </a:rPr>
              <a:t>D. Evidence-driven camera selection</a:t>
            </a:r>
          </a:p>
        </p:txBody>
      </p:sp>
      <p:sp>
        <p:nvSpPr>
          <p:cNvPr id="17659" name="TextBox 17658">
            <a:extLst>
              <a:ext uri="{FF2B5EF4-FFF2-40B4-BE49-F238E27FC236}">
                <a16:creationId xmlns:a16="http://schemas.microsoft.com/office/drawing/2014/main" id="{CDC2887E-904C-9693-C4A1-93D024B626F8}"/>
              </a:ext>
            </a:extLst>
          </p:cNvPr>
          <p:cNvSpPr txBox="1"/>
          <p:nvPr/>
        </p:nvSpPr>
        <p:spPr>
          <a:xfrm>
            <a:off x="6675120" y="4087368"/>
            <a:ext cx="393192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30" b="0">
                <a:solidFill>
                  <a:srgbClr val="5F5F5F"/>
                </a:solidFill>
                <a:latin typeface="Arial"/>
              </a:rPr>
              <a:t>Choose the next camera/time-window by expected information gain, not only proximity.</a:t>
            </a:r>
          </a:p>
        </p:txBody>
      </p:sp>
      <p:sp>
        <p:nvSpPr>
          <p:cNvPr id="17661" name="TextBox 17660">
            <a:extLst>
              <a:ext uri="{FF2B5EF4-FFF2-40B4-BE49-F238E27FC236}">
                <a16:creationId xmlns:a16="http://schemas.microsoft.com/office/drawing/2014/main" id="{BAC66E01-D9DB-45A2-24E6-294BAF1DB29F}"/>
              </a:ext>
            </a:extLst>
          </p:cNvPr>
          <p:cNvSpPr txBox="1"/>
          <p:nvPr/>
        </p:nvSpPr>
        <p:spPr>
          <a:xfrm>
            <a:off x="347472" y="4690872"/>
            <a:ext cx="29260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20" b="1">
                <a:solidFill>
                  <a:srgbClr val="0D345B"/>
                </a:solidFill>
                <a:latin typeface="Arial"/>
              </a:rPr>
              <a:t>3  VALIDATION FOUNDATION</a:t>
            </a:r>
          </a:p>
        </p:txBody>
      </p:sp>
      <p:sp>
        <p:nvSpPr>
          <p:cNvPr id="17663" name="Rounded Rectangle 45">
            <a:extLst>
              <a:ext uri="{FF2B5EF4-FFF2-40B4-BE49-F238E27FC236}">
                <a16:creationId xmlns:a16="http://schemas.microsoft.com/office/drawing/2014/main" id="{40D38549-9FD5-516A-5645-0FDE099132DA}"/>
              </a:ext>
            </a:extLst>
          </p:cNvPr>
          <p:cNvSpPr/>
          <p:nvPr/>
        </p:nvSpPr>
        <p:spPr>
          <a:xfrm>
            <a:off x="329184" y="5001768"/>
            <a:ext cx="2524517" cy="516410"/>
          </a:xfrm>
          <a:prstGeom prst="roundRect">
            <a:avLst/>
          </a:prstGeom>
          <a:solidFill>
            <a:srgbClr val="D8D0A3"/>
          </a:solidFill>
          <a:ln w="13970">
            <a:solidFill>
              <a:srgbClr val="7D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65" name="TextBox 17664">
            <a:extLst>
              <a:ext uri="{FF2B5EF4-FFF2-40B4-BE49-F238E27FC236}">
                <a16:creationId xmlns:a16="http://schemas.microsoft.com/office/drawing/2014/main" id="{1F68A079-E092-CBB0-6E59-B8DED8AFEA80}"/>
              </a:ext>
            </a:extLst>
          </p:cNvPr>
          <p:cNvSpPr txBox="1"/>
          <p:nvPr/>
        </p:nvSpPr>
        <p:spPr>
          <a:xfrm>
            <a:off x="420623" y="5029200"/>
            <a:ext cx="2414016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19" b="1">
                <a:solidFill>
                  <a:srgbClr val="0D345B"/>
                </a:solidFill>
                <a:latin typeface="Arial"/>
                <a:hlinkClick r:id="rId8"/>
              </a:rPr>
              <a:t>Hyderabad CCTV</a:t>
            </a:r>
          </a:p>
        </p:txBody>
      </p:sp>
      <p:sp>
        <p:nvSpPr>
          <p:cNvPr id="17667" name="TextBox 17666">
            <a:extLst>
              <a:ext uri="{FF2B5EF4-FFF2-40B4-BE49-F238E27FC236}">
                <a16:creationId xmlns:a16="http://schemas.microsoft.com/office/drawing/2014/main" id="{FBFDC134-A332-6858-0ABA-F620B46C2141}"/>
              </a:ext>
            </a:extLst>
          </p:cNvPr>
          <p:cNvSpPr txBox="1"/>
          <p:nvPr/>
        </p:nvSpPr>
        <p:spPr>
          <a:xfrm>
            <a:off x="420623" y="5248656"/>
            <a:ext cx="241401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>
                <a:solidFill>
                  <a:srgbClr val="141414"/>
                </a:solidFill>
                <a:latin typeface="Arial"/>
              </a:rPr>
              <a:t>IITH_Helmet2 / IITH_Accident</a:t>
            </a:r>
          </a:p>
        </p:txBody>
      </p:sp>
      <p:sp>
        <p:nvSpPr>
          <p:cNvPr id="17669" name="Rounded Rectangle 48">
            <a:extLst>
              <a:ext uri="{FF2B5EF4-FFF2-40B4-BE49-F238E27FC236}">
                <a16:creationId xmlns:a16="http://schemas.microsoft.com/office/drawing/2014/main" id="{725AD9C4-D961-F12C-341E-1CDFD46CFA45}"/>
              </a:ext>
            </a:extLst>
          </p:cNvPr>
          <p:cNvSpPr/>
          <p:nvPr/>
        </p:nvSpPr>
        <p:spPr>
          <a:xfrm>
            <a:off x="310896" y="5581609"/>
            <a:ext cx="2542805" cy="412057"/>
          </a:xfrm>
          <a:prstGeom prst="roundRect">
            <a:avLst/>
          </a:prstGeom>
          <a:solidFill>
            <a:srgbClr val="D8D0A3"/>
          </a:solidFill>
          <a:ln w="13970">
            <a:solidFill>
              <a:srgbClr val="7D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71" name="TextBox 17670">
            <a:extLst>
              <a:ext uri="{FF2B5EF4-FFF2-40B4-BE49-F238E27FC236}">
                <a16:creationId xmlns:a16="http://schemas.microsoft.com/office/drawing/2014/main" id="{39C7E03C-B2EE-959F-C8EF-F39EF25B513A}"/>
              </a:ext>
            </a:extLst>
          </p:cNvPr>
          <p:cNvSpPr txBox="1"/>
          <p:nvPr/>
        </p:nvSpPr>
        <p:spPr>
          <a:xfrm>
            <a:off x="402335" y="5565237"/>
            <a:ext cx="2524517" cy="21223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19" b="1">
                <a:solidFill>
                  <a:srgbClr val="0D345B"/>
                </a:solidFill>
                <a:latin typeface="Arial"/>
                <a:hlinkClick r:id="rId9"/>
              </a:rPr>
              <a:t>City-scale benchmark</a:t>
            </a:r>
          </a:p>
        </p:txBody>
      </p:sp>
      <p:sp>
        <p:nvSpPr>
          <p:cNvPr id="17673" name="TextBox 17672">
            <a:extLst>
              <a:ext uri="{FF2B5EF4-FFF2-40B4-BE49-F238E27FC236}">
                <a16:creationId xmlns:a16="http://schemas.microsoft.com/office/drawing/2014/main" id="{782DB058-B57A-ECEC-250A-E0B1B6F5271E}"/>
              </a:ext>
            </a:extLst>
          </p:cNvPr>
          <p:cNvSpPr txBox="1"/>
          <p:nvPr/>
        </p:nvSpPr>
        <p:spPr>
          <a:xfrm>
            <a:off x="402335" y="5838980"/>
            <a:ext cx="2524517" cy="18620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>
                <a:solidFill>
                  <a:srgbClr val="141414"/>
                </a:solidFill>
                <a:latin typeface="Arial"/>
              </a:rPr>
              <a:t>CityFlow / AI City</a:t>
            </a:r>
          </a:p>
        </p:txBody>
      </p:sp>
      <p:sp>
        <p:nvSpPr>
          <p:cNvPr id="17675" name="Rounded Rectangle 51">
            <a:extLst>
              <a:ext uri="{FF2B5EF4-FFF2-40B4-BE49-F238E27FC236}">
                <a16:creationId xmlns:a16="http://schemas.microsoft.com/office/drawing/2014/main" id="{7FD6403C-520D-E71B-B718-B3FBAA383D38}"/>
              </a:ext>
            </a:extLst>
          </p:cNvPr>
          <p:cNvSpPr/>
          <p:nvPr/>
        </p:nvSpPr>
        <p:spPr>
          <a:xfrm>
            <a:off x="3273552" y="4928298"/>
            <a:ext cx="2377440" cy="548958"/>
          </a:xfrm>
          <a:prstGeom prst="roundRect">
            <a:avLst/>
          </a:prstGeom>
          <a:solidFill>
            <a:srgbClr val="D8D0A3"/>
          </a:solidFill>
          <a:ln w="13970">
            <a:solidFill>
              <a:srgbClr val="7D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77" name="TextBox 17676">
            <a:extLst>
              <a:ext uri="{FF2B5EF4-FFF2-40B4-BE49-F238E27FC236}">
                <a16:creationId xmlns:a16="http://schemas.microsoft.com/office/drawing/2014/main" id="{48A63D2F-063A-C168-7BDE-ADD9C4351341}"/>
              </a:ext>
            </a:extLst>
          </p:cNvPr>
          <p:cNvSpPr txBox="1"/>
          <p:nvPr/>
        </p:nvSpPr>
        <p:spPr>
          <a:xfrm>
            <a:off x="3364992" y="4933480"/>
            <a:ext cx="2210015" cy="21223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19" b="1">
                <a:solidFill>
                  <a:srgbClr val="0D345B"/>
                </a:solidFill>
                <a:latin typeface="Arial"/>
                <a:hlinkClick r:id="rId4"/>
              </a:rPr>
              <a:t>Indian ANPR</a:t>
            </a:r>
          </a:p>
        </p:txBody>
      </p:sp>
      <p:sp>
        <p:nvSpPr>
          <p:cNvPr id="17679" name="TextBox 17678">
            <a:extLst>
              <a:ext uri="{FF2B5EF4-FFF2-40B4-BE49-F238E27FC236}">
                <a16:creationId xmlns:a16="http://schemas.microsoft.com/office/drawing/2014/main" id="{0A726F7F-5083-1287-B08E-8458E54C658C}"/>
              </a:ext>
            </a:extLst>
          </p:cNvPr>
          <p:cNvSpPr txBox="1"/>
          <p:nvPr/>
        </p:nvSpPr>
        <p:spPr>
          <a:xfrm>
            <a:off x="3364992" y="5196450"/>
            <a:ext cx="2210015" cy="18620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>
                <a:solidFill>
                  <a:srgbClr val="141414"/>
                </a:solidFill>
                <a:latin typeface="Arial"/>
              </a:rPr>
              <a:t>Indian plate dataset + BARC study</a:t>
            </a:r>
          </a:p>
        </p:txBody>
      </p:sp>
      <p:sp>
        <p:nvSpPr>
          <p:cNvPr id="17681" name="Rounded Rectangle 54">
            <a:extLst>
              <a:ext uri="{FF2B5EF4-FFF2-40B4-BE49-F238E27FC236}">
                <a16:creationId xmlns:a16="http://schemas.microsoft.com/office/drawing/2014/main" id="{CF69F837-D3FB-745C-51B3-617D21F56544}"/>
              </a:ext>
            </a:extLst>
          </p:cNvPr>
          <p:cNvSpPr/>
          <p:nvPr/>
        </p:nvSpPr>
        <p:spPr>
          <a:xfrm>
            <a:off x="3260414" y="5540946"/>
            <a:ext cx="2390578" cy="503238"/>
          </a:xfrm>
          <a:prstGeom prst="roundRect">
            <a:avLst/>
          </a:prstGeom>
          <a:solidFill>
            <a:srgbClr val="D8D0A3"/>
          </a:solidFill>
          <a:ln w="13970">
            <a:solidFill>
              <a:srgbClr val="7D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83" name="TextBox 17682">
            <a:extLst>
              <a:ext uri="{FF2B5EF4-FFF2-40B4-BE49-F238E27FC236}">
                <a16:creationId xmlns:a16="http://schemas.microsoft.com/office/drawing/2014/main" id="{ADBA9F7E-F4CC-414A-9199-A666BCCC9542}"/>
              </a:ext>
            </a:extLst>
          </p:cNvPr>
          <p:cNvSpPr txBox="1"/>
          <p:nvPr/>
        </p:nvSpPr>
        <p:spPr>
          <a:xfrm>
            <a:off x="3351854" y="5539143"/>
            <a:ext cx="2222227" cy="21223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19" b="1">
                <a:solidFill>
                  <a:srgbClr val="0D345B"/>
                </a:solidFill>
                <a:latin typeface="Arial"/>
                <a:hlinkClick r:id="rId10"/>
              </a:rPr>
              <a:t>Road network</a:t>
            </a:r>
          </a:p>
        </p:txBody>
      </p:sp>
      <p:sp>
        <p:nvSpPr>
          <p:cNvPr id="17685" name="TextBox 17684">
            <a:extLst>
              <a:ext uri="{FF2B5EF4-FFF2-40B4-BE49-F238E27FC236}">
                <a16:creationId xmlns:a16="http://schemas.microsoft.com/office/drawing/2014/main" id="{9098091E-0C04-85C4-D2CB-5EE3E65D9BCE}"/>
              </a:ext>
            </a:extLst>
          </p:cNvPr>
          <p:cNvSpPr txBox="1"/>
          <p:nvPr/>
        </p:nvSpPr>
        <p:spPr>
          <a:xfrm>
            <a:off x="3351854" y="5799573"/>
            <a:ext cx="2222227" cy="18620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>
                <a:solidFill>
                  <a:srgbClr val="141414"/>
                </a:solidFill>
                <a:latin typeface="Arial"/>
              </a:rPr>
              <a:t>OpenStreetMap for GIS topology</a:t>
            </a:r>
          </a:p>
        </p:txBody>
      </p:sp>
      <p:pic>
        <p:nvPicPr>
          <p:cNvPr id="5" name="Picture 4" descr="Github Logo - Free social media icons">
            <a:hlinkClick r:id="rId11"/>
            <a:extLst>
              <a:ext uri="{FF2B5EF4-FFF2-40B4-BE49-F238E27FC236}">
                <a16:creationId xmlns:a16="http://schemas.microsoft.com/office/drawing/2014/main" id="{4AE3B111-5933-5076-D284-DA972F5F5B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9632" y="5217427"/>
            <a:ext cx="732645" cy="732645"/>
          </a:xfrm>
          <a:prstGeom prst="rect">
            <a:avLst/>
          </a:prstGeom>
        </p:spPr>
      </p:pic>
      <p:pic>
        <p:nvPicPr>
          <p:cNvPr id="11" name="Graphic 10" descr="Open book with solid fill">
            <a:hlinkClick r:id="rId13"/>
            <a:extLst>
              <a:ext uri="{FF2B5EF4-FFF2-40B4-BE49-F238E27FC236}">
                <a16:creationId xmlns:a16="http://schemas.microsoft.com/office/drawing/2014/main" id="{1FD1C20F-336D-CDDC-75F5-5007E5EDD0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23320" y="5248656"/>
            <a:ext cx="1176841" cy="726307"/>
          </a:xfrm>
          <a:prstGeom prst="rect">
            <a:avLst/>
          </a:prstGeom>
        </p:spPr>
      </p:pic>
      <p:pic>
        <p:nvPicPr>
          <p:cNvPr id="15" name="Picture 14" descr="Website 3D Icon Isolated on Transparent Background, Gold Texture, 3D Rendering 23456390 PNG">
            <a:hlinkClick r:id="rId15"/>
            <a:extLst>
              <a:ext uri="{FF2B5EF4-FFF2-40B4-BE49-F238E27FC236}">
                <a16:creationId xmlns:a16="http://schemas.microsoft.com/office/drawing/2014/main" id="{C67EFC17-7FFE-4D9C-7580-EB81088DE1F9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4048" t="9054" r="6114" b="11003"/>
          <a:stretch>
            <a:fillRect/>
          </a:stretch>
        </p:blipFill>
        <p:spPr>
          <a:xfrm>
            <a:off x="8737600" y="5065458"/>
            <a:ext cx="1176841" cy="980319"/>
          </a:xfrm>
          <a:prstGeom prst="rect">
            <a:avLst/>
          </a:prstGeom>
        </p:spPr>
      </p:pic>
      <p:pic>
        <p:nvPicPr>
          <p:cNvPr id="16" name="Picture 15" descr="Video Logo Design stock vector. Illustration of cinematography - 83343220">
            <a:hlinkClick r:id="rId17"/>
            <a:extLst>
              <a:ext uri="{FF2B5EF4-FFF2-40B4-BE49-F238E27FC236}">
                <a16:creationId xmlns:a16="http://schemas.microsoft.com/office/drawing/2014/main" id="{80D14EAE-0424-B0D9-9DD9-5901D6F9ED74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24132" b="20207"/>
          <a:stretch>
            <a:fillRect/>
          </a:stretch>
        </p:blipFill>
        <p:spPr>
          <a:xfrm>
            <a:off x="10278208" y="5333005"/>
            <a:ext cx="1048646" cy="55091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24615AC-82CA-11B0-7CC3-1E6E8DBA4011}"/>
              </a:ext>
            </a:extLst>
          </p:cNvPr>
          <p:cNvSpPr txBox="1"/>
          <p:nvPr/>
        </p:nvSpPr>
        <p:spPr>
          <a:xfrm>
            <a:off x="5889740" y="4604864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8475</TotalTime>
  <Words>488</Words>
  <Application>Microsoft Office PowerPoint</Application>
  <PresentationFormat>Widescreen</PresentationFormat>
  <Paragraphs>104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Cambria</vt:lpstr>
      <vt:lpstr>Garamond</vt:lpstr>
      <vt:lpstr>Times New Roman</vt:lpstr>
      <vt:lpstr>TradeGothic</vt:lpstr>
      <vt:lpstr>Office Theme</vt:lpstr>
      <vt:lpstr>SMART INDIA HACKATHON 2026</vt:lpstr>
      <vt:lpstr>TRACE-X Trust-Aware Multi-Camera Vehicle Intelligence for Urban Traffic Analytics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Vishal Gudla</cp:lastModifiedBy>
  <cp:revision>166</cp:revision>
  <dcterms:created xsi:type="dcterms:W3CDTF">2013-12-12T18:46:50Z</dcterms:created>
  <dcterms:modified xsi:type="dcterms:W3CDTF">2026-09-24T09:42:55Z</dcterms:modified>
  <cp:category/>
</cp:coreProperties>
</file>