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9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24" y="-2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A3A5-225F-A4B5-3E6D-48772D8D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C4138EE-FF6F-7B15-0B11-D6C0EB4EC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C26D739A-0B54-F828-64B8-208977D1B0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8E28DD64-AA50-DC84-3928-15E5D8DB1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20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s.google.com/site/dineshsinghindian/dataset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openaccess.thecvf.com/content/WACV2022/html/Sharma_Intelligent_Camera_Selection_Decisions_for_Target_Tracking_in_a_Camera_WACV_2022_paper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access.thecvf.com/content/CVPR2021W/AICity/html/Wu_A_Multi-Camera_Vehicle_Tracking_System_Based_on_City-Scale_Vehicle_Re-ID_CVPRW_2021_paper.html" TargetMode="External"/><Relationship Id="rId5" Type="http://schemas.openxmlformats.org/officeDocument/2006/relationships/hyperlink" Target="https://openaccess.thecvf.com/content_CVPRW_2019/html/AI_City/Tan_Multi-camera_vehicle_tracking_and_re-identification_based_on_visual_and_spatial-temporal_CVPRW_2019_paper.html" TargetMode="External"/><Relationship Id="rId10" Type="http://schemas.openxmlformats.org/officeDocument/2006/relationships/hyperlink" Target="https://www.openstreetmap.org/" TargetMode="External"/><Relationship Id="rId4" Type="http://schemas.openxmlformats.org/officeDocument/2006/relationships/hyperlink" Target="https://arxiv.org/abs/2207.06657" TargetMode="External"/><Relationship Id="rId9" Type="http://schemas.openxmlformats.org/officeDocument/2006/relationships/hyperlink" Target="https://openaccess.thecvf.com/content_CVPR_2019/html/Tang_CityFlow_A_City-Scale_Benchmark_for_Multi-Target_Multi-Camera_Vehicle_Tracking_and_CVPR_2019_pap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141" y="1477246"/>
            <a:ext cx="592455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26127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City-Wide AI Engine for Multi-Camera ANPR Trajectory Tracking and Urban Traffic Analytics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NeuraTrack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25">
            <a:extLst>
              <a:ext uri="{FF2B5EF4-FFF2-40B4-BE49-F238E27FC236}">
                <a16:creationId xmlns:a16="http://schemas.microsoft.com/office/drawing/2014/main" id="{106EA8A0-E504-7DFB-7464-4310F6145AB0}"/>
              </a:ext>
            </a:extLst>
          </p:cNvPr>
          <p:cNvSpPr/>
          <p:nvPr/>
        </p:nvSpPr>
        <p:spPr>
          <a:xfrm>
            <a:off x="2705661" y="1280160"/>
            <a:ext cx="5103315" cy="512064"/>
          </a:xfrm>
          <a:prstGeom prst="roundRect">
            <a:avLst>
              <a:gd name="adj" fmla="val 10714"/>
            </a:avLst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16" name="Shape 5">
            <a:extLst>
              <a:ext uri="{FF2B5EF4-FFF2-40B4-BE49-F238E27FC236}">
                <a16:creationId xmlns:a16="http://schemas.microsoft.com/office/drawing/2014/main" id="{CB36AF40-41A8-4F76-4E52-0094F634F64D}"/>
              </a:ext>
            </a:extLst>
          </p:cNvPr>
          <p:cNvSpPr/>
          <p:nvPr/>
        </p:nvSpPr>
        <p:spPr>
          <a:xfrm>
            <a:off x="229189" y="1278127"/>
            <a:ext cx="2377440" cy="4572000"/>
          </a:xfrm>
          <a:prstGeom prst="roundRect">
            <a:avLst>
              <a:gd name="adj" fmla="val 2308"/>
            </a:avLst>
          </a:prstGeom>
          <a:solidFill>
            <a:srgbClr val="FDF2F3"/>
          </a:solidFill>
          <a:ln w="12700">
            <a:solidFill>
              <a:srgbClr val="F3D2D6"/>
            </a:solidFill>
            <a:prstDash val="solid"/>
          </a:ln>
        </p:spPr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478980" y="1500"/>
            <a:ext cx="7234038" cy="1143000"/>
          </a:xfrm>
        </p:spPr>
        <p:txBody>
          <a:bodyPr/>
          <a:lstStyle/>
          <a:p>
            <a:pPr eaLnBrk="1" hangingPunct="1"/>
            <a:r>
              <a:rPr lang="en-US" sz="4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TRACE-X</a:t>
            </a:r>
            <a:br>
              <a:rPr lang="en-US" sz="1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 Vehicle Tracking &amp; Traffic Intelligence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0A6CBE8-C1AD-FFA4-72A6-CAE892A45F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  <p:sp>
        <p:nvSpPr>
          <p:cNvPr id="15368" name="Shape 6">
            <a:extLst>
              <a:ext uri="{FF2B5EF4-FFF2-40B4-BE49-F238E27FC236}">
                <a16:creationId xmlns:a16="http://schemas.microsoft.com/office/drawing/2014/main" id="{141A080A-6ABF-2C5D-F16C-4C14247A0E68}"/>
              </a:ext>
            </a:extLst>
          </p:cNvPr>
          <p:cNvSpPr/>
          <p:nvPr/>
        </p:nvSpPr>
        <p:spPr>
          <a:xfrm>
            <a:off x="338917" y="1326471"/>
            <a:ext cx="365760" cy="329184"/>
          </a:xfrm>
          <a:prstGeom prst="triangl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5370" name="Text 7">
            <a:extLst>
              <a:ext uri="{FF2B5EF4-FFF2-40B4-BE49-F238E27FC236}">
                <a16:creationId xmlns:a16="http://schemas.microsoft.com/office/drawing/2014/main" id="{4C4EA65C-6284-0451-D4A7-8019468A6C7F}"/>
              </a:ext>
            </a:extLst>
          </p:cNvPr>
          <p:cNvSpPr txBox="1"/>
          <p:nvPr/>
        </p:nvSpPr>
        <p:spPr>
          <a:xfrm>
            <a:off x="338917" y="1427055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372" name="Text 8">
            <a:extLst>
              <a:ext uri="{FF2B5EF4-FFF2-40B4-BE49-F238E27FC236}">
                <a16:creationId xmlns:a16="http://schemas.microsoft.com/office/drawing/2014/main" id="{5230065F-1F90-A363-03C6-9B99CA21CD7D}"/>
              </a:ext>
            </a:extLst>
          </p:cNvPr>
          <p:cNvSpPr txBox="1"/>
          <p:nvPr/>
        </p:nvSpPr>
        <p:spPr>
          <a:xfrm>
            <a:off x="759541" y="1299039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Challenges</a:t>
            </a:r>
            <a:endParaRPr lang="en-US" sz="1300" dirty="0"/>
          </a:p>
        </p:txBody>
      </p:sp>
      <p:sp>
        <p:nvSpPr>
          <p:cNvPr id="15374" name="Text 9">
            <a:extLst>
              <a:ext uri="{FF2B5EF4-FFF2-40B4-BE49-F238E27FC236}">
                <a16:creationId xmlns:a16="http://schemas.microsoft.com/office/drawing/2014/main" id="{825D736F-D0EE-1A1E-AD55-627B49924D85}"/>
              </a:ext>
            </a:extLst>
          </p:cNvPr>
          <p:cNvSpPr txBox="1"/>
          <p:nvPr/>
        </p:nvSpPr>
        <p:spPr>
          <a:xfrm>
            <a:off x="759541" y="1491063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00" dirty="0">
                <a:solidFill>
                  <a:srgbClr val="244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 see vehicles, but connecting them across the city is difficult.</a:t>
            </a:r>
            <a:endParaRPr lang="en-US" sz="800" dirty="0"/>
          </a:p>
        </p:txBody>
      </p:sp>
      <p:pic>
        <p:nvPicPr>
          <p:cNvPr id="15376" name="Image 2" descr="preencoded.png">
            <a:extLst>
              <a:ext uri="{FF2B5EF4-FFF2-40B4-BE49-F238E27FC236}">
                <a16:creationId xmlns:a16="http://schemas.microsoft.com/office/drawing/2014/main" id="{AD1F2D0E-3671-09CF-42D7-DD610D5F01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773" y="1801959"/>
            <a:ext cx="914400" cy="548640"/>
          </a:xfrm>
          <a:prstGeom prst="rect">
            <a:avLst/>
          </a:prstGeom>
        </p:spPr>
      </p:pic>
      <p:sp>
        <p:nvSpPr>
          <p:cNvPr id="15378" name="Text 10">
            <a:extLst>
              <a:ext uri="{FF2B5EF4-FFF2-40B4-BE49-F238E27FC236}">
                <a16:creationId xmlns:a16="http://schemas.microsoft.com/office/drawing/2014/main" id="{91DDBEF2-0937-3954-9BBB-850040453E21}"/>
              </a:ext>
            </a:extLst>
          </p:cNvPr>
          <p:cNvSpPr txBox="1"/>
          <p:nvPr/>
        </p:nvSpPr>
        <p:spPr>
          <a:xfrm>
            <a:off x="1317325" y="1783671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/ Unreadable Number Plates</a:t>
            </a:r>
            <a:endParaRPr lang="en-US" sz="850" dirty="0"/>
          </a:p>
        </p:txBody>
      </p:sp>
      <p:sp>
        <p:nvSpPr>
          <p:cNvPr id="15380" name="Text 11">
            <a:extLst>
              <a:ext uri="{FF2B5EF4-FFF2-40B4-BE49-F238E27FC236}">
                <a16:creationId xmlns:a16="http://schemas.microsoft.com/office/drawing/2014/main" id="{D771E722-CEA1-A236-DEA2-E2F1723B659D}"/>
              </a:ext>
            </a:extLst>
          </p:cNvPr>
          <p:cNvSpPr txBox="1"/>
          <p:nvPr/>
        </p:nvSpPr>
        <p:spPr>
          <a:xfrm>
            <a:off x="1317325" y="2039703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resolution, motion blur, dirty or damaged plates.</a:t>
            </a:r>
            <a:endParaRPr lang="en-US" sz="700" dirty="0"/>
          </a:p>
        </p:txBody>
      </p:sp>
      <p:pic>
        <p:nvPicPr>
          <p:cNvPr id="15382" name="Image 3" descr="preencoded.png">
            <a:extLst>
              <a:ext uri="{FF2B5EF4-FFF2-40B4-BE49-F238E27FC236}">
                <a16:creationId xmlns:a16="http://schemas.microsoft.com/office/drawing/2014/main" id="{E6559A97-5921-C9A5-3E1B-F7DA4E28FA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9773" y="2405463"/>
            <a:ext cx="914400" cy="548640"/>
          </a:xfrm>
          <a:prstGeom prst="rect">
            <a:avLst/>
          </a:prstGeom>
        </p:spPr>
      </p:pic>
      <p:sp>
        <p:nvSpPr>
          <p:cNvPr id="15384" name="Text 12">
            <a:extLst>
              <a:ext uri="{FF2B5EF4-FFF2-40B4-BE49-F238E27FC236}">
                <a16:creationId xmlns:a16="http://schemas.microsoft.com/office/drawing/2014/main" id="{EB0432C9-46BE-A9CE-C4F5-0DECAD7BDCA6}"/>
              </a:ext>
            </a:extLst>
          </p:cNvPr>
          <p:cNvSpPr txBox="1"/>
          <p:nvPr/>
        </p:nvSpPr>
        <p:spPr>
          <a:xfrm>
            <a:off x="1317325" y="2387175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Conditions</a:t>
            </a:r>
            <a:endParaRPr lang="en-US" sz="850" dirty="0"/>
          </a:p>
        </p:txBody>
      </p:sp>
      <p:sp>
        <p:nvSpPr>
          <p:cNvPr id="15386" name="Text 13">
            <a:extLst>
              <a:ext uri="{FF2B5EF4-FFF2-40B4-BE49-F238E27FC236}">
                <a16:creationId xmlns:a16="http://schemas.microsoft.com/office/drawing/2014/main" id="{7CF64784-9DEE-4AF2-E96E-304538DD8A40}"/>
              </a:ext>
            </a:extLst>
          </p:cNvPr>
          <p:cNvSpPr txBox="1"/>
          <p:nvPr/>
        </p:nvSpPr>
        <p:spPr>
          <a:xfrm>
            <a:off x="1317325" y="2643207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Night, rain, glare, lighting changes.</a:t>
            </a:r>
            <a:endParaRPr lang="en-US" sz="700" dirty="0"/>
          </a:p>
        </p:txBody>
      </p:sp>
      <p:pic>
        <p:nvPicPr>
          <p:cNvPr id="15388" name="Image 4" descr="preencoded.png">
            <a:extLst>
              <a:ext uri="{FF2B5EF4-FFF2-40B4-BE49-F238E27FC236}">
                <a16:creationId xmlns:a16="http://schemas.microsoft.com/office/drawing/2014/main" id="{46A7868D-170A-590B-1F92-29E6A33F0E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9773" y="3008967"/>
            <a:ext cx="914400" cy="548640"/>
          </a:xfrm>
          <a:prstGeom prst="rect">
            <a:avLst/>
          </a:prstGeom>
        </p:spPr>
      </p:pic>
      <p:sp>
        <p:nvSpPr>
          <p:cNvPr id="15390" name="Text 14">
            <a:extLst>
              <a:ext uri="{FF2B5EF4-FFF2-40B4-BE49-F238E27FC236}">
                <a16:creationId xmlns:a16="http://schemas.microsoft.com/office/drawing/2014/main" id="{E8D0F52B-7F4C-95B0-3044-BE2040D6193E}"/>
              </a:ext>
            </a:extLst>
          </p:cNvPr>
          <p:cNvSpPr txBox="1"/>
          <p:nvPr/>
        </p:nvSpPr>
        <p:spPr>
          <a:xfrm>
            <a:off x="1317325" y="2990679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Occlusion</a:t>
            </a:r>
            <a:endParaRPr lang="en-US" sz="850" dirty="0"/>
          </a:p>
        </p:txBody>
      </p:sp>
      <p:sp>
        <p:nvSpPr>
          <p:cNvPr id="15392" name="Text 15">
            <a:extLst>
              <a:ext uri="{FF2B5EF4-FFF2-40B4-BE49-F238E27FC236}">
                <a16:creationId xmlns:a16="http://schemas.microsoft.com/office/drawing/2014/main" id="{E4EA1382-4F8E-79B4-86C3-E5B90F4B6E36}"/>
              </a:ext>
            </a:extLst>
          </p:cNvPr>
          <p:cNvSpPr txBox="1"/>
          <p:nvPr/>
        </p:nvSpPr>
        <p:spPr>
          <a:xfrm>
            <a:off x="1317325" y="3246711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blocked by other vehicles, buses, trucks or pedestrians.</a:t>
            </a:r>
            <a:endParaRPr lang="en-US" sz="700" dirty="0"/>
          </a:p>
        </p:txBody>
      </p:sp>
      <p:pic>
        <p:nvPicPr>
          <p:cNvPr id="15394" name="Image 5" descr="preencoded.png">
            <a:extLst>
              <a:ext uri="{FF2B5EF4-FFF2-40B4-BE49-F238E27FC236}">
                <a16:creationId xmlns:a16="http://schemas.microsoft.com/office/drawing/2014/main" id="{810C2A69-2CE3-6A5F-9F72-1249F4CECAB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9773" y="3612471"/>
            <a:ext cx="914400" cy="548640"/>
          </a:xfrm>
          <a:prstGeom prst="rect">
            <a:avLst/>
          </a:prstGeom>
        </p:spPr>
      </p:pic>
      <p:sp>
        <p:nvSpPr>
          <p:cNvPr id="15396" name="Text 16">
            <a:extLst>
              <a:ext uri="{FF2B5EF4-FFF2-40B4-BE49-F238E27FC236}">
                <a16:creationId xmlns:a16="http://schemas.microsoft.com/office/drawing/2014/main" id="{E88D37C3-07C6-FD0A-0CF2-F46E3735F4E9}"/>
              </a:ext>
            </a:extLst>
          </p:cNvPr>
          <p:cNvSpPr txBox="1"/>
          <p:nvPr/>
        </p:nvSpPr>
        <p:spPr>
          <a:xfrm>
            <a:off x="1317325" y="3594183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Viewpoints</a:t>
            </a:r>
            <a:endParaRPr lang="en-US" sz="850" dirty="0"/>
          </a:p>
        </p:txBody>
      </p:sp>
      <p:sp>
        <p:nvSpPr>
          <p:cNvPr id="15398" name="Text 17">
            <a:extLst>
              <a:ext uri="{FF2B5EF4-FFF2-40B4-BE49-F238E27FC236}">
                <a16:creationId xmlns:a16="http://schemas.microsoft.com/office/drawing/2014/main" id="{C0F85EAB-F7A5-BF83-2104-85AEFD796CB4}"/>
              </a:ext>
            </a:extLst>
          </p:cNvPr>
          <p:cNvSpPr txBox="1"/>
          <p:nvPr/>
        </p:nvSpPr>
        <p:spPr>
          <a:xfrm>
            <a:off x="1317325" y="3850215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vehicle looks different across cameras (front, back, side).</a:t>
            </a:r>
            <a:endParaRPr lang="en-US" sz="700" dirty="0"/>
          </a:p>
        </p:txBody>
      </p:sp>
      <p:pic>
        <p:nvPicPr>
          <p:cNvPr id="15400" name="Image 6" descr="preencoded.png">
            <a:extLst>
              <a:ext uri="{FF2B5EF4-FFF2-40B4-BE49-F238E27FC236}">
                <a16:creationId xmlns:a16="http://schemas.microsoft.com/office/drawing/2014/main" id="{707F6360-C6EE-39AB-94D8-864C6460A84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9773" y="4215975"/>
            <a:ext cx="914400" cy="548640"/>
          </a:xfrm>
          <a:prstGeom prst="rect">
            <a:avLst/>
          </a:prstGeom>
        </p:spPr>
      </p:pic>
      <p:sp>
        <p:nvSpPr>
          <p:cNvPr id="15402" name="Text 18">
            <a:extLst>
              <a:ext uri="{FF2B5EF4-FFF2-40B4-BE49-F238E27FC236}">
                <a16:creationId xmlns:a16="http://schemas.microsoft.com/office/drawing/2014/main" id="{25BFCBAF-C7F2-9042-A100-96086D0165C9}"/>
              </a:ext>
            </a:extLst>
          </p:cNvPr>
          <p:cNvSpPr txBox="1"/>
          <p:nvPr/>
        </p:nvSpPr>
        <p:spPr>
          <a:xfrm>
            <a:off x="1317325" y="4197687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Observations</a:t>
            </a:r>
            <a:endParaRPr lang="en-US" sz="850" dirty="0"/>
          </a:p>
        </p:txBody>
      </p:sp>
      <p:sp>
        <p:nvSpPr>
          <p:cNvPr id="15404" name="Text 19">
            <a:extLst>
              <a:ext uri="{FF2B5EF4-FFF2-40B4-BE49-F238E27FC236}">
                <a16:creationId xmlns:a16="http://schemas.microsoft.com/office/drawing/2014/main" id="{7154B6F3-D9A3-8666-F6EB-9C195A063E41}"/>
              </a:ext>
            </a:extLst>
          </p:cNvPr>
          <p:cNvSpPr txBox="1"/>
          <p:nvPr/>
        </p:nvSpPr>
        <p:spPr>
          <a:xfrm>
            <a:off x="1317325" y="4453719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outages, network issues, maintenance periods.</a:t>
            </a:r>
            <a:endParaRPr lang="en-US" sz="700" dirty="0"/>
          </a:p>
        </p:txBody>
      </p:sp>
      <p:pic>
        <p:nvPicPr>
          <p:cNvPr id="15406" name="Image 7" descr="preencoded.png">
            <a:extLst>
              <a:ext uri="{FF2B5EF4-FFF2-40B4-BE49-F238E27FC236}">
                <a16:creationId xmlns:a16="http://schemas.microsoft.com/office/drawing/2014/main" id="{5B2B0168-561D-6915-6B19-58FE7D2F0B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29773" y="4819479"/>
            <a:ext cx="914400" cy="548640"/>
          </a:xfrm>
          <a:prstGeom prst="rect">
            <a:avLst/>
          </a:prstGeom>
        </p:spPr>
      </p:pic>
      <p:sp>
        <p:nvSpPr>
          <p:cNvPr id="15408" name="Text 20">
            <a:extLst>
              <a:ext uri="{FF2B5EF4-FFF2-40B4-BE49-F238E27FC236}">
                <a16:creationId xmlns:a16="http://schemas.microsoft.com/office/drawing/2014/main" id="{C1071754-08D9-D7E2-F5DB-508DD0A1ADDB}"/>
              </a:ext>
            </a:extLst>
          </p:cNvPr>
          <p:cNvSpPr txBox="1"/>
          <p:nvPr/>
        </p:nvSpPr>
        <p:spPr>
          <a:xfrm>
            <a:off x="1317325" y="4801191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8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Visual Similarity</a:t>
            </a:r>
            <a:endParaRPr lang="en-US" sz="850" dirty="0"/>
          </a:p>
        </p:txBody>
      </p:sp>
      <p:sp>
        <p:nvSpPr>
          <p:cNvPr id="15410" name="Text 21">
            <a:extLst>
              <a:ext uri="{FF2B5EF4-FFF2-40B4-BE49-F238E27FC236}">
                <a16:creationId xmlns:a16="http://schemas.microsoft.com/office/drawing/2014/main" id="{4C842AEA-4CB5-AAC4-0EAC-BA8A2D496D1E}"/>
              </a:ext>
            </a:extLst>
          </p:cNvPr>
          <p:cNvSpPr txBox="1"/>
          <p:nvPr/>
        </p:nvSpPr>
        <p:spPr>
          <a:xfrm>
            <a:off x="1317325" y="5057223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vehicles may look similar (same make, colour, model).</a:t>
            </a:r>
            <a:endParaRPr lang="en-US" sz="700" dirty="0"/>
          </a:p>
        </p:txBody>
      </p:sp>
      <p:sp>
        <p:nvSpPr>
          <p:cNvPr id="15412" name="Shape 22">
            <a:extLst>
              <a:ext uri="{FF2B5EF4-FFF2-40B4-BE49-F238E27FC236}">
                <a16:creationId xmlns:a16="http://schemas.microsoft.com/office/drawing/2014/main" id="{57D6CE99-4A1B-6C4E-190F-7665F9ACD806}"/>
              </a:ext>
            </a:extLst>
          </p:cNvPr>
          <p:cNvSpPr/>
          <p:nvPr/>
        </p:nvSpPr>
        <p:spPr>
          <a:xfrm>
            <a:off x="329773" y="5413839"/>
            <a:ext cx="2176272" cy="384048"/>
          </a:xfrm>
          <a:prstGeom prst="roundRect">
            <a:avLst>
              <a:gd name="adj" fmla="val 14286"/>
            </a:avLst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5414" name="Text 23">
            <a:extLst>
              <a:ext uri="{FF2B5EF4-FFF2-40B4-BE49-F238E27FC236}">
                <a16:creationId xmlns:a16="http://schemas.microsoft.com/office/drawing/2014/main" id="{6E220F39-55DA-E997-6CA3-EF8340D2BED4}"/>
              </a:ext>
            </a:extLst>
          </p:cNvPr>
          <p:cNvSpPr txBox="1"/>
          <p:nvPr/>
        </p:nvSpPr>
        <p:spPr>
          <a:xfrm>
            <a:off x="329773" y="5413839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camera detection is an observation,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trustworthy vehicle identity.</a:t>
            </a:r>
            <a:endParaRPr lang="en-US" sz="850" dirty="0"/>
          </a:p>
        </p:txBody>
      </p:sp>
      <p:sp>
        <p:nvSpPr>
          <p:cNvPr id="15420" name="Text 26">
            <a:extLst>
              <a:ext uri="{FF2B5EF4-FFF2-40B4-BE49-F238E27FC236}">
                <a16:creationId xmlns:a16="http://schemas.microsoft.com/office/drawing/2014/main" id="{83E43B39-7175-E107-9CFE-22875FE2C0CE}"/>
              </a:ext>
            </a:extLst>
          </p:cNvPr>
          <p:cNvSpPr txBox="1"/>
          <p:nvPr/>
        </p:nvSpPr>
        <p:spPr>
          <a:xfrm>
            <a:off x="2761488" y="9052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TRACE-X Solution Pipeline</a:t>
            </a:r>
            <a:endParaRPr lang="en-US" sz="1300" dirty="0"/>
          </a:p>
        </p:txBody>
      </p:sp>
      <p:sp>
        <p:nvSpPr>
          <p:cNvPr id="15422" name="Text 27">
            <a:extLst>
              <a:ext uri="{FF2B5EF4-FFF2-40B4-BE49-F238E27FC236}">
                <a16:creationId xmlns:a16="http://schemas.microsoft.com/office/drawing/2014/main" id="{1FE26900-172F-56D9-6CA0-FE9B5ABB8E87}"/>
              </a:ext>
            </a:extLst>
          </p:cNvPr>
          <p:cNvSpPr txBox="1"/>
          <p:nvPr/>
        </p:nvSpPr>
        <p:spPr>
          <a:xfrm>
            <a:off x="2761488" y="1445233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Intelligence with Trust-Aware Evidence Modelling</a:t>
            </a:r>
            <a:endParaRPr lang="en-US" sz="850" dirty="0"/>
          </a:p>
        </p:txBody>
      </p:sp>
      <p:sp>
        <p:nvSpPr>
          <p:cNvPr id="15424" name="Shape 28">
            <a:extLst>
              <a:ext uri="{FF2B5EF4-FFF2-40B4-BE49-F238E27FC236}">
                <a16:creationId xmlns:a16="http://schemas.microsoft.com/office/drawing/2014/main" id="{3824C9D9-B354-07E4-8D6B-B48501BCF5A0}"/>
              </a:ext>
            </a:extLst>
          </p:cNvPr>
          <p:cNvSpPr/>
          <p:nvPr/>
        </p:nvSpPr>
        <p:spPr>
          <a:xfrm>
            <a:off x="2706624" y="1792705"/>
            <a:ext cx="896112" cy="2743200"/>
          </a:xfrm>
          <a:prstGeom prst="roundRect">
            <a:avLst>
              <a:gd name="adj" fmla="val 6122"/>
            </a:avLst>
          </a:prstGeom>
          <a:solidFill>
            <a:srgbClr val="F5FAFF"/>
          </a:solidFill>
          <a:ln w="12700">
            <a:solidFill>
              <a:srgbClr val="C9DEF5"/>
            </a:solidFill>
            <a:prstDash val="solid"/>
          </a:ln>
        </p:spPr>
      </p:sp>
      <p:sp>
        <p:nvSpPr>
          <p:cNvPr id="15426" name="Text 29">
            <a:extLst>
              <a:ext uri="{FF2B5EF4-FFF2-40B4-BE49-F238E27FC236}">
                <a16:creationId xmlns:a16="http://schemas.microsoft.com/office/drawing/2014/main" id="{688BF52C-CB0A-BC56-907C-C6449D5796AB}"/>
              </a:ext>
            </a:extLst>
          </p:cNvPr>
          <p:cNvSpPr txBox="1"/>
          <p:nvPr/>
        </p:nvSpPr>
        <p:spPr>
          <a:xfrm>
            <a:off x="2734056" y="1829281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CCTV Network</a:t>
            </a:r>
            <a:endParaRPr lang="en-US" sz="700" dirty="0"/>
          </a:p>
        </p:txBody>
      </p:sp>
      <p:pic>
        <p:nvPicPr>
          <p:cNvPr id="15428" name="Image 8" descr="preencoded.png">
            <a:extLst>
              <a:ext uri="{FF2B5EF4-FFF2-40B4-BE49-F238E27FC236}">
                <a16:creationId xmlns:a16="http://schemas.microsoft.com/office/drawing/2014/main" id="{6429E44A-5622-5616-E7CB-2F272B40F8F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770632" y="2121889"/>
            <a:ext cx="768096" cy="457200"/>
          </a:xfrm>
          <a:prstGeom prst="rect">
            <a:avLst/>
          </a:prstGeom>
        </p:spPr>
      </p:pic>
      <p:sp>
        <p:nvSpPr>
          <p:cNvPr id="15430" name="Shape 30">
            <a:extLst>
              <a:ext uri="{FF2B5EF4-FFF2-40B4-BE49-F238E27FC236}">
                <a16:creationId xmlns:a16="http://schemas.microsoft.com/office/drawing/2014/main" id="{931CE2B7-DA71-348E-BA8D-22F8477BC655}"/>
              </a:ext>
            </a:extLst>
          </p:cNvPr>
          <p:cNvSpPr/>
          <p:nvPr/>
        </p:nvSpPr>
        <p:spPr>
          <a:xfrm>
            <a:off x="2788920" y="2414497"/>
            <a:ext cx="402336" cy="146304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432" name="Text 31">
            <a:extLst>
              <a:ext uri="{FF2B5EF4-FFF2-40B4-BE49-F238E27FC236}">
                <a16:creationId xmlns:a16="http://schemas.microsoft.com/office/drawing/2014/main" id="{0CBC8C50-481E-FC93-F29D-9D582B360DC2}"/>
              </a:ext>
            </a:extLst>
          </p:cNvPr>
          <p:cNvSpPr txBox="1"/>
          <p:nvPr/>
        </p:nvSpPr>
        <p:spPr>
          <a:xfrm>
            <a:off x="2788920" y="2414497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Cam-101</a:t>
            </a:r>
            <a:endParaRPr lang="en-US" sz="600" dirty="0"/>
          </a:p>
        </p:txBody>
      </p:sp>
      <p:pic>
        <p:nvPicPr>
          <p:cNvPr id="15434" name="Image 9" descr="preencoded.png">
            <a:extLst>
              <a:ext uri="{FF2B5EF4-FFF2-40B4-BE49-F238E27FC236}">
                <a16:creationId xmlns:a16="http://schemas.microsoft.com/office/drawing/2014/main" id="{D8F9DA3B-AF53-BDA8-929D-E1DA07D9029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770632" y="2643097"/>
            <a:ext cx="768096" cy="457200"/>
          </a:xfrm>
          <a:prstGeom prst="rect">
            <a:avLst/>
          </a:prstGeom>
        </p:spPr>
      </p:pic>
      <p:sp>
        <p:nvSpPr>
          <p:cNvPr id="15436" name="Shape 32">
            <a:extLst>
              <a:ext uri="{FF2B5EF4-FFF2-40B4-BE49-F238E27FC236}">
                <a16:creationId xmlns:a16="http://schemas.microsoft.com/office/drawing/2014/main" id="{66A2AD69-024A-0D18-0ABB-83EE96AC6E41}"/>
              </a:ext>
            </a:extLst>
          </p:cNvPr>
          <p:cNvSpPr/>
          <p:nvPr/>
        </p:nvSpPr>
        <p:spPr>
          <a:xfrm>
            <a:off x="2788920" y="2935705"/>
            <a:ext cx="402336" cy="146304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438" name="Text 33">
            <a:extLst>
              <a:ext uri="{FF2B5EF4-FFF2-40B4-BE49-F238E27FC236}">
                <a16:creationId xmlns:a16="http://schemas.microsoft.com/office/drawing/2014/main" id="{2D405F4E-2348-B180-0D8D-87632234D820}"/>
              </a:ext>
            </a:extLst>
          </p:cNvPr>
          <p:cNvSpPr txBox="1"/>
          <p:nvPr/>
        </p:nvSpPr>
        <p:spPr>
          <a:xfrm>
            <a:off x="2788920" y="2935705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Cam-205</a:t>
            </a:r>
            <a:endParaRPr lang="en-US" sz="600" dirty="0"/>
          </a:p>
        </p:txBody>
      </p:sp>
      <p:pic>
        <p:nvPicPr>
          <p:cNvPr id="15440" name="Image 10" descr="preencoded.png">
            <a:extLst>
              <a:ext uri="{FF2B5EF4-FFF2-40B4-BE49-F238E27FC236}">
                <a16:creationId xmlns:a16="http://schemas.microsoft.com/office/drawing/2014/main" id="{6FD2CBFC-C296-3718-BA74-F3E8B596494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2770632" y="3164305"/>
            <a:ext cx="768096" cy="457200"/>
          </a:xfrm>
          <a:prstGeom prst="rect">
            <a:avLst/>
          </a:prstGeom>
        </p:spPr>
      </p:pic>
      <p:sp>
        <p:nvSpPr>
          <p:cNvPr id="15442" name="Shape 34">
            <a:extLst>
              <a:ext uri="{FF2B5EF4-FFF2-40B4-BE49-F238E27FC236}">
                <a16:creationId xmlns:a16="http://schemas.microsoft.com/office/drawing/2014/main" id="{CB2BCDF3-D959-3AB6-A7DE-32E2AF1CAFBC}"/>
              </a:ext>
            </a:extLst>
          </p:cNvPr>
          <p:cNvSpPr/>
          <p:nvPr/>
        </p:nvSpPr>
        <p:spPr>
          <a:xfrm>
            <a:off x="2788920" y="3456913"/>
            <a:ext cx="402336" cy="146304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444" name="Text 35">
            <a:extLst>
              <a:ext uri="{FF2B5EF4-FFF2-40B4-BE49-F238E27FC236}">
                <a16:creationId xmlns:a16="http://schemas.microsoft.com/office/drawing/2014/main" id="{823B9775-E1E1-2218-BE73-F9492B180776}"/>
              </a:ext>
            </a:extLst>
          </p:cNvPr>
          <p:cNvSpPr txBox="1"/>
          <p:nvPr/>
        </p:nvSpPr>
        <p:spPr>
          <a:xfrm>
            <a:off x="2788920" y="3456913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Cam-317</a:t>
            </a:r>
            <a:endParaRPr lang="en-US" sz="600" dirty="0"/>
          </a:p>
        </p:txBody>
      </p:sp>
      <p:pic>
        <p:nvPicPr>
          <p:cNvPr id="15446" name="Image 11" descr="preencoded.png">
            <a:extLst>
              <a:ext uri="{FF2B5EF4-FFF2-40B4-BE49-F238E27FC236}">
                <a16:creationId xmlns:a16="http://schemas.microsoft.com/office/drawing/2014/main" id="{AB0ACB52-025B-77C1-913A-9DD2FE8DA61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770632" y="3685513"/>
            <a:ext cx="768096" cy="457200"/>
          </a:xfrm>
          <a:prstGeom prst="rect">
            <a:avLst/>
          </a:prstGeom>
        </p:spPr>
      </p:pic>
      <p:sp>
        <p:nvSpPr>
          <p:cNvPr id="15448" name="Shape 36">
            <a:extLst>
              <a:ext uri="{FF2B5EF4-FFF2-40B4-BE49-F238E27FC236}">
                <a16:creationId xmlns:a16="http://schemas.microsoft.com/office/drawing/2014/main" id="{388AC2D6-4E62-EDD3-87DA-E5C65E1AF2C7}"/>
              </a:ext>
            </a:extLst>
          </p:cNvPr>
          <p:cNvSpPr/>
          <p:nvPr/>
        </p:nvSpPr>
        <p:spPr>
          <a:xfrm>
            <a:off x="2788920" y="3978121"/>
            <a:ext cx="402336" cy="146304"/>
          </a:xfrm>
          <a:prstGeom prst="roundRect">
            <a:avLst>
              <a:gd name="adj" fmla="val 1875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450" name="Text 37">
            <a:extLst>
              <a:ext uri="{FF2B5EF4-FFF2-40B4-BE49-F238E27FC236}">
                <a16:creationId xmlns:a16="http://schemas.microsoft.com/office/drawing/2014/main" id="{0A734990-44E5-1F55-8DE2-4946AA254836}"/>
              </a:ext>
            </a:extLst>
          </p:cNvPr>
          <p:cNvSpPr txBox="1"/>
          <p:nvPr/>
        </p:nvSpPr>
        <p:spPr>
          <a:xfrm>
            <a:off x="2788920" y="3978121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Cam-422</a:t>
            </a:r>
            <a:endParaRPr lang="en-US" sz="600" dirty="0"/>
          </a:p>
        </p:txBody>
      </p:sp>
      <p:sp>
        <p:nvSpPr>
          <p:cNvPr id="15452" name="Text 38">
            <a:extLst>
              <a:ext uri="{FF2B5EF4-FFF2-40B4-BE49-F238E27FC236}">
                <a16:creationId xmlns:a16="http://schemas.microsoft.com/office/drawing/2014/main" id="{12035AD6-7D14-6553-E4B2-3418A4BF6BD3}"/>
              </a:ext>
            </a:extLst>
          </p:cNvPr>
          <p:cNvSpPr txBox="1"/>
          <p:nvPr/>
        </p:nvSpPr>
        <p:spPr>
          <a:xfrm>
            <a:off x="2770632" y="4188433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300" dirty="0"/>
          </a:p>
        </p:txBody>
      </p:sp>
      <p:sp>
        <p:nvSpPr>
          <p:cNvPr id="15454" name="Shape 39">
            <a:extLst>
              <a:ext uri="{FF2B5EF4-FFF2-40B4-BE49-F238E27FC236}">
                <a16:creationId xmlns:a16="http://schemas.microsoft.com/office/drawing/2014/main" id="{9854F943-6E12-1BE0-C1B9-6F0BCCD374A9}"/>
              </a:ext>
            </a:extLst>
          </p:cNvPr>
          <p:cNvSpPr/>
          <p:nvPr/>
        </p:nvSpPr>
        <p:spPr>
          <a:xfrm>
            <a:off x="3630168" y="2414497"/>
            <a:ext cx="256032" cy="128016"/>
          </a:xfrm>
          <a:prstGeom prst="rightArrow">
            <a:avLst/>
          </a:prstGeom>
          <a:solidFill>
            <a:srgbClr val="1F6FD6"/>
          </a:solidFill>
          <a:ln w="12700">
            <a:solidFill>
              <a:srgbClr val="1F6FD6"/>
            </a:solidFill>
            <a:prstDash val="solid"/>
          </a:ln>
        </p:spPr>
      </p:sp>
      <p:sp>
        <p:nvSpPr>
          <p:cNvPr id="15456" name="Shape 40">
            <a:extLst>
              <a:ext uri="{FF2B5EF4-FFF2-40B4-BE49-F238E27FC236}">
                <a16:creationId xmlns:a16="http://schemas.microsoft.com/office/drawing/2014/main" id="{48C11C6E-9D4E-E929-9C2D-575457D189B2}"/>
              </a:ext>
            </a:extLst>
          </p:cNvPr>
          <p:cNvSpPr/>
          <p:nvPr/>
        </p:nvSpPr>
        <p:spPr>
          <a:xfrm>
            <a:off x="3630168" y="3328897"/>
            <a:ext cx="256032" cy="128016"/>
          </a:xfrm>
          <a:prstGeom prst="rightArrow">
            <a:avLst/>
          </a:prstGeom>
          <a:solidFill>
            <a:srgbClr val="1F6FD6"/>
          </a:solidFill>
          <a:ln w="12700">
            <a:solidFill>
              <a:srgbClr val="1F6FD6"/>
            </a:solidFill>
            <a:prstDash val="solid"/>
          </a:ln>
        </p:spPr>
      </p:sp>
      <p:sp>
        <p:nvSpPr>
          <p:cNvPr id="15458" name="Shape 41">
            <a:extLst>
              <a:ext uri="{FF2B5EF4-FFF2-40B4-BE49-F238E27FC236}">
                <a16:creationId xmlns:a16="http://schemas.microsoft.com/office/drawing/2014/main" id="{F398058B-2864-5D9E-C4AD-FEC74A551F1C}"/>
              </a:ext>
            </a:extLst>
          </p:cNvPr>
          <p:cNvSpPr/>
          <p:nvPr/>
        </p:nvSpPr>
        <p:spPr>
          <a:xfrm>
            <a:off x="4800314" y="1810993"/>
            <a:ext cx="1225868" cy="1188720"/>
          </a:xfrm>
          <a:custGeom>
            <a:avLst/>
            <a:gdLst/>
            <a:ahLst/>
            <a:cxnLst/>
            <a:rect l="l" t="t" r="r" b="b"/>
            <a:pathLst>
              <a:path w="1225868" h="1188720">
                <a:moveTo>
                  <a:pt x="612934" y="0"/>
                </a:moveTo>
                <a:lnTo>
                  <a:pt x="1225868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1565C0"/>
          </a:solidFill>
          <a:ln w="15875">
            <a:solidFill>
              <a:srgbClr val="C9821A"/>
            </a:solidFill>
            <a:prstDash val="solid"/>
          </a:ln>
        </p:spPr>
      </p:sp>
      <p:sp>
        <p:nvSpPr>
          <p:cNvPr id="15460" name="Shape 42">
            <a:extLst>
              <a:ext uri="{FF2B5EF4-FFF2-40B4-BE49-F238E27FC236}">
                <a16:creationId xmlns:a16="http://schemas.microsoft.com/office/drawing/2014/main" id="{82C51C7F-232A-B896-4EA9-02319CB7E73F}"/>
              </a:ext>
            </a:extLst>
          </p:cNvPr>
          <p:cNvSpPr/>
          <p:nvPr/>
        </p:nvSpPr>
        <p:spPr>
          <a:xfrm>
            <a:off x="4621149" y="2999713"/>
            <a:ext cx="1584198" cy="347472"/>
          </a:xfrm>
          <a:custGeom>
            <a:avLst/>
            <a:gdLst/>
            <a:ahLst/>
            <a:cxnLst/>
            <a:rect l="l" t="t" r="r" b="b"/>
            <a:pathLst>
              <a:path w="1584198" h="347472">
                <a:moveTo>
                  <a:pt x="179165" y="0"/>
                </a:moveTo>
                <a:lnTo>
                  <a:pt x="1405033" y="0"/>
                </a:lnTo>
                <a:lnTo>
                  <a:pt x="1584198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1E7BD6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15462" name="Shape 43">
            <a:extLst>
              <a:ext uri="{FF2B5EF4-FFF2-40B4-BE49-F238E27FC236}">
                <a16:creationId xmlns:a16="http://schemas.microsoft.com/office/drawing/2014/main" id="{75E7AFE2-52A7-EC7E-8546-3D7E005B172F}"/>
              </a:ext>
            </a:extLst>
          </p:cNvPr>
          <p:cNvSpPr/>
          <p:nvPr/>
        </p:nvSpPr>
        <p:spPr>
          <a:xfrm>
            <a:off x="4441984" y="3347185"/>
            <a:ext cx="1942528" cy="347472"/>
          </a:xfrm>
          <a:custGeom>
            <a:avLst/>
            <a:gdLst/>
            <a:ahLst/>
            <a:cxnLst/>
            <a:rect l="l" t="t" r="r" b="b"/>
            <a:pathLst>
              <a:path w="1942528" h="347472">
                <a:moveTo>
                  <a:pt x="179165" y="0"/>
                </a:moveTo>
                <a:lnTo>
                  <a:pt x="1763363" y="0"/>
                </a:lnTo>
                <a:lnTo>
                  <a:pt x="1942528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2E93A8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15464" name="Shape 44">
            <a:extLst>
              <a:ext uri="{FF2B5EF4-FFF2-40B4-BE49-F238E27FC236}">
                <a16:creationId xmlns:a16="http://schemas.microsoft.com/office/drawing/2014/main" id="{E1AFA0B6-C3AC-9D4D-BC50-00D9CEB6EC85}"/>
              </a:ext>
            </a:extLst>
          </p:cNvPr>
          <p:cNvSpPr/>
          <p:nvPr/>
        </p:nvSpPr>
        <p:spPr>
          <a:xfrm>
            <a:off x="4262819" y="3694657"/>
            <a:ext cx="2300859" cy="347472"/>
          </a:xfrm>
          <a:custGeom>
            <a:avLst/>
            <a:gdLst/>
            <a:ahLst/>
            <a:cxnLst/>
            <a:rect l="l" t="t" r="r" b="b"/>
            <a:pathLst>
              <a:path w="2300859" h="347472">
                <a:moveTo>
                  <a:pt x="179165" y="0"/>
                </a:moveTo>
                <a:lnTo>
                  <a:pt x="2121694" y="0"/>
                </a:lnTo>
                <a:lnTo>
                  <a:pt x="2300859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4E9F3D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15466" name="Shape 45">
            <a:extLst>
              <a:ext uri="{FF2B5EF4-FFF2-40B4-BE49-F238E27FC236}">
                <a16:creationId xmlns:a16="http://schemas.microsoft.com/office/drawing/2014/main" id="{DF32B383-3ACA-41FD-F778-D1BCC4ADEC85}"/>
              </a:ext>
            </a:extLst>
          </p:cNvPr>
          <p:cNvSpPr/>
          <p:nvPr/>
        </p:nvSpPr>
        <p:spPr>
          <a:xfrm>
            <a:off x="4083653" y="4042129"/>
            <a:ext cx="2659189" cy="347472"/>
          </a:xfrm>
          <a:custGeom>
            <a:avLst/>
            <a:gdLst/>
            <a:ahLst/>
            <a:cxnLst/>
            <a:rect l="l" t="t" r="r" b="b"/>
            <a:pathLst>
              <a:path w="2659189" h="347472">
                <a:moveTo>
                  <a:pt x="179165" y="0"/>
                </a:moveTo>
                <a:lnTo>
                  <a:pt x="2480024" y="0"/>
                </a:lnTo>
                <a:lnTo>
                  <a:pt x="2659189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F5C242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15468" name="Shape 46">
            <a:extLst>
              <a:ext uri="{FF2B5EF4-FFF2-40B4-BE49-F238E27FC236}">
                <a16:creationId xmlns:a16="http://schemas.microsoft.com/office/drawing/2014/main" id="{3ADCCC2C-4DE4-3C17-36AE-77B5D9D19145}"/>
              </a:ext>
            </a:extLst>
          </p:cNvPr>
          <p:cNvSpPr/>
          <p:nvPr/>
        </p:nvSpPr>
        <p:spPr>
          <a:xfrm>
            <a:off x="3904488" y="4389601"/>
            <a:ext cx="3017520" cy="347472"/>
          </a:xfrm>
          <a:custGeom>
            <a:avLst/>
            <a:gdLst/>
            <a:ahLst/>
            <a:cxnLst/>
            <a:rect l="l" t="t" r="r" b="b"/>
            <a:pathLst>
              <a:path w="3017520" h="347472">
                <a:moveTo>
                  <a:pt x="179165" y="0"/>
                </a:moveTo>
                <a:lnTo>
                  <a:pt x="2838355" y="0"/>
                </a:lnTo>
                <a:lnTo>
                  <a:pt x="3017520" y="347472"/>
                </a:lnTo>
                <a:lnTo>
                  <a:pt x="0" y="347472"/>
                </a:lnTo>
                <a:close/>
              </a:path>
            </a:pathLst>
          </a:custGeom>
          <a:solidFill>
            <a:srgbClr val="A7D4F2"/>
          </a:solidFill>
          <a:ln w="12700">
            <a:solidFill>
              <a:srgbClr val="C9821A"/>
            </a:solidFill>
            <a:prstDash val="solid"/>
          </a:ln>
        </p:spPr>
      </p:sp>
      <p:sp>
        <p:nvSpPr>
          <p:cNvPr id="15470" name="Text 47">
            <a:extLst>
              <a:ext uri="{FF2B5EF4-FFF2-40B4-BE49-F238E27FC236}">
                <a16:creationId xmlns:a16="http://schemas.microsoft.com/office/drawing/2014/main" id="{212FA274-FC1F-26D7-BE8F-E64D40231B08}"/>
              </a:ext>
            </a:extLst>
          </p:cNvPr>
          <p:cNvSpPr txBox="1"/>
          <p:nvPr/>
        </p:nvSpPr>
        <p:spPr>
          <a:xfrm>
            <a:off x="4956048" y="2615665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Video Ingestion</a:t>
            </a:r>
            <a:endParaRPr lang="en-US" sz="750" dirty="0"/>
          </a:p>
        </p:txBody>
      </p:sp>
      <p:sp>
        <p:nvSpPr>
          <p:cNvPr id="15472" name="Text 48">
            <a:extLst>
              <a:ext uri="{FF2B5EF4-FFF2-40B4-BE49-F238E27FC236}">
                <a16:creationId xmlns:a16="http://schemas.microsoft.com/office/drawing/2014/main" id="{B950D9E7-9BEE-D03C-A628-DFAC5029AD4E}"/>
              </a:ext>
            </a:extLst>
          </p:cNvPr>
          <p:cNvSpPr txBox="1"/>
          <p:nvPr/>
        </p:nvSpPr>
        <p:spPr>
          <a:xfrm>
            <a:off x="4873752" y="2771113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/ RTSP / Recorded Videos</a:t>
            </a:r>
            <a:endParaRPr lang="en-US" sz="600" dirty="0"/>
          </a:p>
        </p:txBody>
      </p:sp>
      <p:sp>
        <p:nvSpPr>
          <p:cNvPr id="15474" name="Text 49">
            <a:extLst>
              <a:ext uri="{FF2B5EF4-FFF2-40B4-BE49-F238E27FC236}">
                <a16:creationId xmlns:a16="http://schemas.microsoft.com/office/drawing/2014/main" id="{E6E3E68A-078F-F82D-4BA0-0B01EF7CDCA6}"/>
              </a:ext>
            </a:extLst>
          </p:cNvPr>
          <p:cNvSpPr txBox="1"/>
          <p:nvPr/>
        </p:nvSpPr>
        <p:spPr>
          <a:xfrm>
            <a:off x="4681728" y="3018001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Perception</a:t>
            </a:r>
            <a:endParaRPr lang="en-US" sz="800" dirty="0"/>
          </a:p>
        </p:txBody>
      </p:sp>
      <p:sp>
        <p:nvSpPr>
          <p:cNvPr id="15476" name="Text 50">
            <a:extLst>
              <a:ext uri="{FF2B5EF4-FFF2-40B4-BE49-F238E27FC236}">
                <a16:creationId xmlns:a16="http://schemas.microsoft.com/office/drawing/2014/main" id="{4173E91E-4B8B-7FCB-36D4-BC7C2C90DC29}"/>
              </a:ext>
            </a:extLst>
          </p:cNvPr>
          <p:cNvSpPr txBox="1"/>
          <p:nvPr/>
        </p:nvSpPr>
        <p:spPr>
          <a:xfrm>
            <a:off x="4626864" y="3128491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Plate Detection • OCR</a:t>
            </a:r>
            <a:endParaRPr lang="en-US" sz="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Attributes • Re-Identification</a:t>
            </a:r>
            <a:endParaRPr lang="en-US" sz="600" dirty="0"/>
          </a:p>
        </p:txBody>
      </p:sp>
      <p:sp>
        <p:nvSpPr>
          <p:cNvPr id="15478" name="Text 51">
            <a:extLst>
              <a:ext uri="{FF2B5EF4-FFF2-40B4-BE49-F238E27FC236}">
                <a16:creationId xmlns:a16="http://schemas.microsoft.com/office/drawing/2014/main" id="{CE96F905-2423-617C-479A-95E871875803}"/>
              </a:ext>
            </a:extLst>
          </p:cNvPr>
          <p:cNvSpPr txBox="1"/>
          <p:nvPr/>
        </p:nvSpPr>
        <p:spPr>
          <a:xfrm>
            <a:off x="4498848" y="336547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Evidence Analysis</a:t>
            </a:r>
            <a:endParaRPr lang="en-US" sz="800" dirty="0"/>
          </a:p>
        </p:txBody>
      </p:sp>
      <p:sp>
        <p:nvSpPr>
          <p:cNvPr id="15480" name="Text 52">
            <a:extLst>
              <a:ext uri="{FF2B5EF4-FFF2-40B4-BE49-F238E27FC236}">
                <a16:creationId xmlns:a16="http://schemas.microsoft.com/office/drawing/2014/main" id="{2A311B8C-8392-A07B-A10D-F23011928A8E}"/>
              </a:ext>
            </a:extLst>
          </p:cNvPr>
          <p:cNvSpPr txBox="1"/>
          <p:nvPr/>
        </p:nvSpPr>
        <p:spPr>
          <a:xfrm>
            <a:off x="4443984" y="3475963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• OCR Confidence</a:t>
            </a:r>
            <a:endParaRPr lang="en-US" sz="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Reliability • Attribute Matching</a:t>
            </a:r>
            <a:endParaRPr lang="en-US" sz="600" dirty="0"/>
          </a:p>
        </p:txBody>
      </p:sp>
      <p:sp>
        <p:nvSpPr>
          <p:cNvPr id="15482" name="Text 53">
            <a:extLst>
              <a:ext uri="{FF2B5EF4-FFF2-40B4-BE49-F238E27FC236}">
                <a16:creationId xmlns:a16="http://schemas.microsoft.com/office/drawing/2014/main" id="{6D4712F3-9322-FDC4-6252-F3EC7A8213EB}"/>
              </a:ext>
            </a:extLst>
          </p:cNvPr>
          <p:cNvSpPr txBox="1"/>
          <p:nvPr/>
        </p:nvSpPr>
        <p:spPr>
          <a:xfrm>
            <a:off x="4315968" y="3712945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Journey Reconstruction</a:t>
            </a:r>
            <a:endParaRPr lang="en-US" sz="800" dirty="0"/>
          </a:p>
        </p:txBody>
      </p:sp>
      <p:sp>
        <p:nvSpPr>
          <p:cNvPr id="15484" name="Text 54">
            <a:extLst>
              <a:ext uri="{FF2B5EF4-FFF2-40B4-BE49-F238E27FC236}">
                <a16:creationId xmlns:a16="http://schemas.microsoft.com/office/drawing/2014/main" id="{DED2D216-FD96-D2E1-A552-B5077A0E9680}"/>
              </a:ext>
            </a:extLst>
          </p:cNvPr>
          <p:cNvSpPr txBox="1"/>
          <p:nvPr/>
        </p:nvSpPr>
        <p:spPr>
          <a:xfrm>
            <a:off x="4261104" y="3823435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Spatial-Temporal Validation</a:t>
            </a:r>
            <a:endParaRPr lang="en-US" sz="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Network Constraints • Multi-Hypothesis Tracking</a:t>
            </a:r>
            <a:endParaRPr lang="en-US" sz="600" dirty="0"/>
          </a:p>
        </p:txBody>
      </p:sp>
      <p:sp>
        <p:nvSpPr>
          <p:cNvPr id="15486" name="Text 55">
            <a:extLst>
              <a:ext uri="{FF2B5EF4-FFF2-40B4-BE49-F238E27FC236}">
                <a16:creationId xmlns:a16="http://schemas.microsoft.com/office/drawing/2014/main" id="{47DBC470-25BE-667D-8A39-1D4FC0108F4A}"/>
              </a:ext>
            </a:extLst>
          </p:cNvPr>
          <p:cNvSpPr txBox="1"/>
          <p:nvPr/>
        </p:nvSpPr>
        <p:spPr>
          <a:xfrm>
            <a:off x="4133088" y="4060417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Verification &amp; Explanation</a:t>
            </a:r>
            <a:endParaRPr lang="en-US" sz="800" dirty="0"/>
          </a:p>
        </p:txBody>
      </p:sp>
      <p:sp>
        <p:nvSpPr>
          <p:cNvPr id="15488" name="Text 56">
            <a:extLst>
              <a:ext uri="{FF2B5EF4-FFF2-40B4-BE49-F238E27FC236}">
                <a16:creationId xmlns:a16="http://schemas.microsoft.com/office/drawing/2014/main" id="{8C0B4C8E-86AA-FFE1-66A3-8B2EB8205497}"/>
              </a:ext>
            </a:extLst>
          </p:cNvPr>
          <p:cNvSpPr txBox="1"/>
          <p:nvPr/>
        </p:nvSpPr>
        <p:spPr>
          <a:xfrm>
            <a:off x="4078224" y="4159477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Detection</a:t>
            </a:r>
            <a:endParaRPr lang="en-US" sz="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Estimation • Observed / Inferred / Unknown</a:t>
            </a:r>
            <a:endParaRPr lang="en-US" sz="600" dirty="0"/>
          </a:p>
        </p:txBody>
      </p:sp>
      <p:sp>
        <p:nvSpPr>
          <p:cNvPr id="15490" name="Text 57">
            <a:extLst>
              <a:ext uri="{FF2B5EF4-FFF2-40B4-BE49-F238E27FC236}">
                <a16:creationId xmlns:a16="http://schemas.microsoft.com/office/drawing/2014/main" id="{0D3884DE-87B7-AEF9-47CE-721D5BA4441D}"/>
              </a:ext>
            </a:extLst>
          </p:cNvPr>
          <p:cNvSpPr txBox="1"/>
          <p:nvPr/>
        </p:nvSpPr>
        <p:spPr>
          <a:xfrm>
            <a:off x="3995928" y="4407889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City-Level Intelligence</a:t>
            </a:r>
            <a:endParaRPr lang="en-US" sz="800" dirty="0"/>
          </a:p>
        </p:txBody>
      </p:sp>
      <p:sp>
        <p:nvSpPr>
          <p:cNvPr id="15492" name="Text 58">
            <a:extLst>
              <a:ext uri="{FF2B5EF4-FFF2-40B4-BE49-F238E27FC236}">
                <a16:creationId xmlns:a16="http://schemas.microsoft.com/office/drawing/2014/main" id="{783E7F23-0760-A6BC-369E-37C10DC5FD13}"/>
              </a:ext>
            </a:extLst>
          </p:cNvPr>
          <p:cNvSpPr txBox="1"/>
          <p:nvPr/>
        </p:nvSpPr>
        <p:spPr>
          <a:xfrm>
            <a:off x="3941064" y="4525999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Analytics • OD Matrix • Alerts &amp; Watchlist</a:t>
            </a:r>
            <a:endParaRPr lang="en-US" sz="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Visualization • Reports</a:t>
            </a:r>
            <a:endParaRPr lang="en-US" sz="600" dirty="0"/>
          </a:p>
        </p:txBody>
      </p:sp>
      <p:sp>
        <p:nvSpPr>
          <p:cNvPr id="15494" name="Shape 59">
            <a:extLst>
              <a:ext uri="{FF2B5EF4-FFF2-40B4-BE49-F238E27FC236}">
                <a16:creationId xmlns:a16="http://schemas.microsoft.com/office/drawing/2014/main" id="{53B68CDE-A64A-F6EA-1351-7D557BDCD218}"/>
              </a:ext>
            </a:extLst>
          </p:cNvPr>
          <p:cNvSpPr/>
          <p:nvPr/>
        </p:nvSpPr>
        <p:spPr>
          <a:xfrm>
            <a:off x="6967728" y="1792705"/>
            <a:ext cx="841248" cy="2743200"/>
          </a:xfrm>
          <a:prstGeom prst="roundRect">
            <a:avLst>
              <a:gd name="adj" fmla="val 6522"/>
            </a:avLst>
          </a:prstGeom>
          <a:solidFill>
            <a:srgbClr val="F5FAFF"/>
          </a:solidFill>
          <a:ln w="12700">
            <a:solidFill>
              <a:srgbClr val="C9DEF5"/>
            </a:solidFill>
            <a:prstDash val="solid"/>
          </a:ln>
        </p:spPr>
      </p:sp>
      <p:sp>
        <p:nvSpPr>
          <p:cNvPr id="15496" name="Text 60">
            <a:extLst>
              <a:ext uri="{FF2B5EF4-FFF2-40B4-BE49-F238E27FC236}">
                <a16:creationId xmlns:a16="http://schemas.microsoft.com/office/drawing/2014/main" id="{89B7DDED-0E28-D5F3-2F5C-E8CD6E57D22A}"/>
              </a:ext>
            </a:extLst>
          </p:cNvPr>
          <p:cNvSpPr txBox="1"/>
          <p:nvPr/>
        </p:nvSpPr>
        <p:spPr>
          <a:xfrm>
            <a:off x="6995160" y="1829281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700" dirty="0"/>
          </a:p>
        </p:txBody>
      </p:sp>
      <p:sp>
        <p:nvSpPr>
          <p:cNvPr id="15498" name="Shape 61">
            <a:extLst>
              <a:ext uri="{FF2B5EF4-FFF2-40B4-BE49-F238E27FC236}">
                <a16:creationId xmlns:a16="http://schemas.microsoft.com/office/drawing/2014/main" id="{996088DE-3500-05C1-8F6A-D491B7F37A5B}"/>
              </a:ext>
            </a:extLst>
          </p:cNvPr>
          <p:cNvSpPr/>
          <p:nvPr/>
        </p:nvSpPr>
        <p:spPr>
          <a:xfrm>
            <a:off x="7004304" y="2121889"/>
            <a:ext cx="76809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</p:spPr>
      </p:sp>
      <p:sp>
        <p:nvSpPr>
          <p:cNvPr id="15500" name="Text 62">
            <a:extLst>
              <a:ext uri="{FF2B5EF4-FFF2-40B4-BE49-F238E27FC236}">
                <a16:creationId xmlns:a16="http://schemas.microsoft.com/office/drawing/2014/main" id="{F1E277D2-7522-8A64-8198-4DB6B8F07826}"/>
              </a:ext>
            </a:extLst>
          </p:cNvPr>
          <p:cNvSpPr txBox="1"/>
          <p:nvPr/>
        </p:nvSpPr>
        <p:spPr>
          <a:xfrm>
            <a:off x="7022592" y="2158465"/>
            <a:ext cx="731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Network
</a:t>
            </a:r>
            <a:r>
              <a:rPr lang="en-US" sz="6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(OpenStreetMap)</a:t>
            </a:r>
            <a:endParaRPr lang="en-US" sz="600" dirty="0"/>
          </a:p>
        </p:txBody>
      </p:sp>
      <p:sp>
        <p:nvSpPr>
          <p:cNvPr id="15502" name="Shape 63">
            <a:extLst>
              <a:ext uri="{FF2B5EF4-FFF2-40B4-BE49-F238E27FC236}">
                <a16:creationId xmlns:a16="http://schemas.microsoft.com/office/drawing/2014/main" id="{C4D70569-8FC9-E9A1-8A79-2561830982A7}"/>
              </a:ext>
            </a:extLst>
          </p:cNvPr>
          <p:cNvSpPr/>
          <p:nvPr/>
        </p:nvSpPr>
        <p:spPr>
          <a:xfrm>
            <a:off x="7004304" y="2697961"/>
            <a:ext cx="76809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</p:spPr>
      </p:sp>
      <p:sp>
        <p:nvSpPr>
          <p:cNvPr id="15504" name="Text 64">
            <a:extLst>
              <a:ext uri="{FF2B5EF4-FFF2-40B4-BE49-F238E27FC236}">
                <a16:creationId xmlns:a16="http://schemas.microsoft.com/office/drawing/2014/main" id="{CC0F52AC-EBE0-8CA0-9DF4-6948855845BE}"/>
              </a:ext>
            </a:extLst>
          </p:cNvPr>
          <p:cNvSpPr txBox="1"/>
          <p:nvPr/>
        </p:nvSpPr>
        <p:spPr>
          <a:xfrm>
            <a:off x="7022592" y="2734537"/>
            <a:ext cx="731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Metadata
</a:t>
            </a:r>
            <a:r>
              <a:rPr lang="en-US" sz="6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(location, direction)</a:t>
            </a:r>
            <a:endParaRPr lang="en-US" sz="600" dirty="0"/>
          </a:p>
        </p:txBody>
      </p:sp>
      <p:sp>
        <p:nvSpPr>
          <p:cNvPr id="15506" name="Shape 65">
            <a:extLst>
              <a:ext uri="{FF2B5EF4-FFF2-40B4-BE49-F238E27FC236}">
                <a16:creationId xmlns:a16="http://schemas.microsoft.com/office/drawing/2014/main" id="{709A063E-42D6-5A57-4EF8-939ED59E9F6E}"/>
              </a:ext>
            </a:extLst>
          </p:cNvPr>
          <p:cNvSpPr/>
          <p:nvPr/>
        </p:nvSpPr>
        <p:spPr>
          <a:xfrm>
            <a:off x="7004304" y="3274033"/>
            <a:ext cx="76809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</p:spPr>
      </p:sp>
      <p:sp>
        <p:nvSpPr>
          <p:cNvPr id="15508" name="Text 66">
            <a:extLst>
              <a:ext uri="{FF2B5EF4-FFF2-40B4-BE49-F238E27FC236}">
                <a16:creationId xmlns:a16="http://schemas.microsoft.com/office/drawing/2014/main" id="{27F33622-B336-12B7-F6A4-F266357F12E4}"/>
              </a:ext>
            </a:extLst>
          </p:cNvPr>
          <p:cNvSpPr txBox="1"/>
          <p:nvPr/>
        </p:nvSpPr>
        <p:spPr>
          <a:xfrm>
            <a:off x="7022592" y="3310609"/>
            <a:ext cx="731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
</a:t>
            </a:r>
            <a:r>
              <a:rPr lang="en-US" sz="6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(traffic patterns)</a:t>
            </a:r>
            <a:endParaRPr lang="en-US" sz="600" dirty="0"/>
          </a:p>
        </p:txBody>
      </p:sp>
      <p:sp>
        <p:nvSpPr>
          <p:cNvPr id="15510" name="Shape 67">
            <a:extLst>
              <a:ext uri="{FF2B5EF4-FFF2-40B4-BE49-F238E27FC236}">
                <a16:creationId xmlns:a16="http://schemas.microsoft.com/office/drawing/2014/main" id="{0AD19A66-DDA9-D671-FBD4-CAC160D8675A}"/>
              </a:ext>
            </a:extLst>
          </p:cNvPr>
          <p:cNvSpPr/>
          <p:nvPr/>
        </p:nvSpPr>
        <p:spPr>
          <a:xfrm>
            <a:off x="7004304" y="3850105"/>
            <a:ext cx="768096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</p:spPr>
      </p:sp>
      <p:sp>
        <p:nvSpPr>
          <p:cNvPr id="15512" name="Text 68">
            <a:extLst>
              <a:ext uri="{FF2B5EF4-FFF2-40B4-BE49-F238E27FC236}">
                <a16:creationId xmlns:a16="http://schemas.microsoft.com/office/drawing/2014/main" id="{9915CB39-AC31-F5D8-550A-AADF815B9A7F}"/>
              </a:ext>
            </a:extLst>
          </p:cNvPr>
          <p:cNvSpPr txBox="1"/>
          <p:nvPr/>
        </p:nvSpPr>
        <p:spPr>
          <a:xfrm>
            <a:off x="7022592" y="3886681"/>
            <a:ext cx="731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
</a:t>
            </a:r>
            <a:r>
              <a:rPr lang="en-US" sz="60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(authorized)</a:t>
            </a:r>
            <a:endParaRPr lang="en-US" sz="600" dirty="0"/>
          </a:p>
        </p:txBody>
      </p:sp>
      <p:sp>
        <p:nvSpPr>
          <p:cNvPr id="15514" name="Shape 69">
            <a:extLst>
              <a:ext uri="{FF2B5EF4-FFF2-40B4-BE49-F238E27FC236}">
                <a16:creationId xmlns:a16="http://schemas.microsoft.com/office/drawing/2014/main" id="{F7CF8791-98ED-C450-6A91-56D25E5D4576}"/>
              </a:ext>
            </a:extLst>
          </p:cNvPr>
          <p:cNvSpPr/>
          <p:nvPr/>
        </p:nvSpPr>
        <p:spPr>
          <a:xfrm>
            <a:off x="2706624" y="4828513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EFF8F1"/>
          </a:solidFill>
          <a:ln w="12700">
            <a:solidFill>
              <a:srgbClr val="CCE7D4"/>
            </a:solidFill>
            <a:prstDash val="solid"/>
          </a:ln>
        </p:spPr>
      </p:sp>
      <p:sp>
        <p:nvSpPr>
          <p:cNvPr id="15516" name="Shape 70">
            <a:extLst>
              <a:ext uri="{FF2B5EF4-FFF2-40B4-BE49-F238E27FC236}">
                <a16:creationId xmlns:a16="http://schemas.microsoft.com/office/drawing/2014/main" id="{1923698E-08E0-F324-D02B-8439F01E99BC}"/>
              </a:ext>
            </a:extLst>
          </p:cNvPr>
          <p:cNvSpPr/>
          <p:nvPr/>
        </p:nvSpPr>
        <p:spPr>
          <a:xfrm>
            <a:off x="2770632" y="4883377"/>
            <a:ext cx="182880" cy="182880"/>
          </a:xfrm>
          <a:prstGeom prst="ellipse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5518" name="Text 71">
            <a:extLst>
              <a:ext uri="{FF2B5EF4-FFF2-40B4-BE49-F238E27FC236}">
                <a16:creationId xmlns:a16="http://schemas.microsoft.com/office/drawing/2014/main" id="{C4A7D420-A465-7304-A68B-A39AFC9CE073}"/>
              </a:ext>
            </a:extLst>
          </p:cNvPr>
          <p:cNvSpPr txBox="1"/>
          <p:nvPr/>
        </p:nvSpPr>
        <p:spPr>
          <a:xfrm>
            <a:off x="2770632" y="488337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520" name="Text 72">
            <a:extLst>
              <a:ext uri="{FF2B5EF4-FFF2-40B4-BE49-F238E27FC236}">
                <a16:creationId xmlns:a16="http://schemas.microsoft.com/office/drawing/2014/main" id="{B99773A0-769C-A2BB-6744-30206B424CB7}"/>
              </a:ext>
            </a:extLst>
          </p:cNvPr>
          <p:cNvSpPr txBox="1"/>
          <p:nvPr/>
        </p:nvSpPr>
        <p:spPr>
          <a:xfrm>
            <a:off x="2990088" y="4865089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Confidence-Aware</a:t>
            </a:r>
            <a:endParaRPr lang="en-US" sz="68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68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Modelling</a:t>
            </a:r>
            <a:endParaRPr lang="en-US" sz="680" dirty="0"/>
          </a:p>
        </p:txBody>
      </p:sp>
      <p:sp>
        <p:nvSpPr>
          <p:cNvPr id="15522" name="Text 73">
            <a:extLst>
              <a:ext uri="{FF2B5EF4-FFF2-40B4-BE49-F238E27FC236}">
                <a16:creationId xmlns:a16="http://schemas.microsoft.com/office/drawing/2014/main" id="{E8219D21-05A9-160B-DFC3-2D1079054917}"/>
              </a:ext>
            </a:extLst>
          </p:cNvPr>
          <p:cNvSpPr txBox="1"/>
          <p:nvPr/>
        </p:nvSpPr>
        <p:spPr>
          <a:xfrm>
            <a:off x="2770632" y="5185129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image quality, OCR confidence, camera reliability.</a:t>
            </a:r>
            <a:endParaRPr lang="en-US" sz="650" dirty="0"/>
          </a:p>
        </p:txBody>
      </p:sp>
      <p:sp>
        <p:nvSpPr>
          <p:cNvPr id="15524" name="Shape 74">
            <a:extLst>
              <a:ext uri="{FF2B5EF4-FFF2-40B4-BE49-F238E27FC236}">
                <a16:creationId xmlns:a16="http://schemas.microsoft.com/office/drawing/2014/main" id="{76D11FC8-3831-CFAE-E412-5C863531634A}"/>
              </a:ext>
            </a:extLst>
          </p:cNvPr>
          <p:cNvSpPr/>
          <p:nvPr/>
        </p:nvSpPr>
        <p:spPr>
          <a:xfrm>
            <a:off x="3995928" y="4828513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4F0FD"/>
          </a:solidFill>
          <a:ln w="12700">
            <a:solidFill>
              <a:srgbClr val="DCD1F5"/>
            </a:solidFill>
            <a:prstDash val="solid"/>
          </a:ln>
        </p:spPr>
      </p:sp>
      <p:sp>
        <p:nvSpPr>
          <p:cNvPr id="15526" name="Shape 75">
            <a:extLst>
              <a:ext uri="{FF2B5EF4-FFF2-40B4-BE49-F238E27FC236}">
                <a16:creationId xmlns:a16="http://schemas.microsoft.com/office/drawing/2014/main" id="{106BF461-FE97-6B03-AEFB-78D9F6F7DBE1}"/>
              </a:ext>
            </a:extLst>
          </p:cNvPr>
          <p:cNvSpPr/>
          <p:nvPr/>
        </p:nvSpPr>
        <p:spPr>
          <a:xfrm>
            <a:off x="4059936" y="4883377"/>
            <a:ext cx="182880" cy="182880"/>
          </a:xfrm>
          <a:prstGeom prst="ellipse">
            <a:avLst/>
          </a:prstGeom>
          <a:solidFill>
            <a:srgbClr val="6B43C7"/>
          </a:solidFill>
          <a:ln w="12700">
            <a:solidFill>
              <a:srgbClr val="6B43C7"/>
            </a:solidFill>
            <a:prstDash val="solid"/>
          </a:ln>
        </p:spPr>
      </p:sp>
      <p:sp>
        <p:nvSpPr>
          <p:cNvPr id="15528" name="Text 76">
            <a:extLst>
              <a:ext uri="{FF2B5EF4-FFF2-40B4-BE49-F238E27FC236}">
                <a16:creationId xmlns:a16="http://schemas.microsoft.com/office/drawing/2014/main" id="{099C5FF1-51D4-62BD-06D9-A58E278441B2}"/>
              </a:ext>
            </a:extLst>
          </p:cNvPr>
          <p:cNvSpPr txBox="1"/>
          <p:nvPr/>
        </p:nvSpPr>
        <p:spPr>
          <a:xfrm>
            <a:off x="4059936" y="488337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900" dirty="0"/>
          </a:p>
        </p:txBody>
      </p:sp>
      <p:sp>
        <p:nvSpPr>
          <p:cNvPr id="15530" name="Text 77">
            <a:extLst>
              <a:ext uri="{FF2B5EF4-FFF2-40B4-BE49-F238E27FC236}">
                <a16:creationId xmlns:a16="http://schemas.microsoft.com/office/drawing/2014/main" id="{5A9E6036-648B-C98C-1A90-AB33A7629A95}"/>
              </a:ext>
            </a:extLst>
          </p:cNvPr>
          <p:cNvSpPr txBox="1"/>
          <p:nvPr/>
        </p:nvSpPr>
        <p:spPr>
          <a:xfrm>
            <a:off x="4279392" y="4865089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+</a:t>
            </a:r>
            <a:endParaRPr lang="en-US" sz="68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68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Evidence</a:t>
            </a:r>
            <a:endParaRPr lang="en-US" sz="680" dirty="0"/>
          </a:p>
        </p:txBody>
      </p:sp>
      <p:sp>
        <p:nvSpPr>
          <p:cNvPr id="15532" name="Text 78">
            <a:extLst>
              <a:ext uri="{FF2B5EF4-FFF2-40B4-BE49-F238E27FC236}">
                <a16:creationId xmlns:a16="http://schemas.microsoft.com/office/drawing/2014/main" id="{E67ED1D8-0355-EE8A-B124-06B9D53B4542}"/>
              </a:ext>
            </a:extLst>
          </p:cNvPr>
          <p:cNvSpPr txBox="1"/>
          <p:nvPr/>
        </p:nvSpPr>
        <p:spPr>
          <a:xfrm>
            <a:off x="4059936" y="5185129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both detections and missing observations.</a:t>
            </a:r>
            <a:endParaRPr lang="en-US" sz="650" dirty="0"/>
          </a:p>
        </p:txBody>
      </p:sp>
      <p:sp>
        <p:nvSpPr>
          <p:cNvPr id="15534" name="Shape 79">
            <a:extLst>
              <a:ext uri="{FF2B5EF4-FFF2-40B4-BE49-F238E27FC236}">
                <a16:creationId xmlns:a16="http://schemas.microsoft.com/office/drawing/2014/main" id="{89A85901-6F20-8B47-2830-5C6E0A34173E}"/>
              </a:ext>
            </a:extLst>
          </p:cNvPr>
          <p:cNvSpPr/>
          <p:nvPr/>
        </p:nvSpPr>
        <p:spPr>
          <a:xfrm>
            <a:off x="5285232" y="4828513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DF1F2"/>
          </a:solidFill>
          <a:ln w="12700">
            <a:solidFill>
              <a:srgbClr val="F5D2D6"/>
            </a:solidFill>
            <a:prstDash val="solid"/>
          </a:ln>
        </p:spPr>
      </p:sp>
      <p:sp>
        <p:nvSpPr>
          <p:cNvPr id="15536" name="Shape 80">
            <a:extLst>
              <a:ext uri="{FF2B5EF4-FFF2-40B4-BE49-F238E27FC236}">
                <a16:creationId xmlns:a16="http://schemas.microsoft.com/office/drawing/2014/main" id="{2F9E9E3E-7D4F-530A-0317-173ADE4F77EB}"/>
              </a:ext>
            </a:extLst>
          </p:cNvPr>
          <p:cNvSpPr/>
          <p:nvPr/>
        </p:nvSpPr>
        <p:spPr>
          <a:xfrm>
            <a:off x="5349240" y="4883377"/>
            <a:ext cx="182880" cy="182880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5538" name="Text 81">
            <a:extLst>
              <a:ext uri="{FF2B5EF4-FFF2-40B4-BE49-F238E27FC236}">
                <a16:creationId xmlns:a16="http://schemas.microsoft.com/office/drawing/2014/main" id="{9BD5662D-4B0C-E5A3-0340-3D1BE14E6F7D}"/>
              </a:ext>
            </a:extLst>
          </p:cNvPr>
          <p:cNvSpPr txBox="1"/>
          <p:nvPr/>
        </p:nvSpPr>
        <p:spPr>
          <a:xfrm>
            <a:off x="5349240" y="488337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5540" name="Text 82">
            <a:extLst>
              <a:ext uri="{FF2B5EF4-FFF2-40B4-BE49-F238E27FC236}">
                <a16:creationId xmlns:a16="http://schemas.microsoft.com/office/drawing/2014/main" id="{AF16D5D3-1061-31DE-E25B-FA008B760521}"/>
              </a:ext>
            </a:extLst>
          </p:cNvPr>
          <p:cNvSpPr txBox="1"/>
          <p:nvPr/>
        </p:nvSpPr>
        <p:spPr>
          <a:xfrm>
            <a:off x="5568696" y="4865089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68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68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680" dirty="0"/>
          </a:p>
        </p:txBody>
      </p:sp>
      <p:sp>
        <p:nvSpPr>
          <p:cNvPr id="15542" name="Text 83">
            <a:extLst>
              <a:ext uri="{FF2B5EF4-FFF2-40B4-BE49-F238E27FC236}">
                <a16:creationId xmlns:a16="http://schemas.microsoft.com/office/drawing/2014/main" id="{8474ABC6-6497-CBF6-6D19-18E21A449867}"/>
              </a:ext>
            </a:extLst>
          </p:cNvPr>
          <p:cNvSpPr txBox="1"/>
          <p:nvPr/>
        </p:nvSpPr>
        <p:spPr>
          <a:xfrm>
            <a:off x="5349240" y="5185129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physically impossible transitions (time, distance, direction).</a:t>
            </a:r>
            <a:endParaRPr lang="en-US" sz="650" dirty="0"/>
          </a:p>
        </p:txBody>
      </p:sp>
      <p:sp>
        <p:nvSpPr>
          <p:cNvPr id="15544" name="Shape 84">
            <a:extLst>
              <a:ext uri="{FF2B5EF4-FFF2-40B4-BE49-F238E27FC236}">
                <a16:creationId xmlns:a16="http://schemas.microsoft.com/office/drawing/2014/main" id="{30857713-5EAD-EEAE-D9F5-B4429A9268E8}"/>
              </a:ext>
            </a:extLst>
          </p:cNvPr>
          <p:cNvSpPr/>
          <p:nvPr/>
        </p:nvSpPr>
        <p:spPr>
          <a:xfrm>
            <a:off x="6574536" y="4828513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EFF6FE"/>
          </a:solidFill>
          <a:ln w="12700">
            <a:solidFill>
              <a:srgbClr val="CFE2F8"/>
            </a:solidFill>
            <a:prstDash val="solid"/>
          </a:ln>
        </p:spPr>
      </p:sp>
      <p:sp>
        <p:nvSpPr>
          <p:cNvPr id="15546" name="Shape 85">
            <a:extLst>
              <a:ext uri="{FF2B5EF4-FFF2-40B4-BE49-F238E27FC236}">
                <a16:creationId xmlns:a16="http://schemas.microsoft.com/office/drawing/2014/main" id="{CA9FC49E-304E-4CA8-5953-B4DE069EB5F3}"/>
              </a:ext>
            </a:extLst>
          </p:cNvPr>
          <p:cNvSpPr/>
          <p:nvPr/>
        </p:nvSpPr>
        <p:spPr>
          <a:xfrm>
            <a:off x="6638544" y="4883377"/>
            <a:ext cx="182880" cy="182880"/>
          </a:xfrm>
          <a:prstGeom prst="ellipse">
            <a:avLst/>
          </a:prstGeom>
          <a:solidFill>
            <a:srgbClr val="1F6FD6"/>
          </a:solidFill>
          <a:ln w="12700">
            <a:solidFill>
              <a:srgbClr val="1F6FD6"/>
            </a:solidFill>
            <a:prstDash val="solid"/>
          </a:ln>
        </p:spPr>
      </p:sp>
      <p:sp>
        <p:nvSpPr>
          <p:cNvPr id="15548" name="Text 86">
            <a:extLst>
              <a:ext uri="{FF2B5EF4-FFF2-40B4-BE49-F238E27FC236}">
                <a16:creationId xmlns:a16="http://schemas.microsoft.com/office/drawing/2014/main" id="{E9A87C99-3D29-40A7-1FF9-C759E92340A3}"/>
              </a:ext>
            </a:extLst>
          </p:cNvPr>
          <p:cNvSpPr txBox="1"/>
          <p:nvPr/>
        </p:nvSpPr>
        <p:spPr>
          <a:xfrm>
            <a:off x="6638544" y="488337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⋔</a:t>
            </a:r>
            <a:endParaRPr lang="en-US" sz="900" dirty="0"/>
          </a:p>
        </p:txBody>
      </p:sp>
      <p:sp>
        <p:nvSpPr>
          <p:cNvPr id="15550" name="Text 87">
            <a:extLst>
              <a:ext uri="{FF2B5EF4-FFF2-40B4-BE49-F238E27FC236}">
                <a16:creationId xmlns:a16="http://schemas.microsoft.com/office/drawing/2014/main" id="{19C9F3C1-0AC9-C9A0-0194-747CE966E1CE}"/>
              </a:ext>
            </a:extLst>
          </p:cNvPr>
          <p:cNvSpPr txBox="1"/>
          <p:nvPr/>
        </p:nvSpPr>
        <p:spPr>
          <a:xfrm>
            <a:off x="6858000" y="4865089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Multi-Hypothesis</a:t>
            </a:r>
            <a:endParaRPr lang="en-US" sz="68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68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Reconstruction</a:t>
            </a:r>
            <a:endParaRPr lang="en-US" sz="680" dirty="0"/>
          </a:p>
        </p:txBody>
      </p:sp>
      <p:sp>
        <p:nvSpPr>
          <p:cNvPr id="15552" name="Text 88">
            <a:extLst>
              <a:ext uri="{FF2B5EF4-FFF2-40B4-BE49-F238E27FC236}">
                <a16:creationId xmlns:a16="http://schemas.microsoft.com/office/drawing/2014/main" id="{FFB4B956-1883-3972-AB71-D487EA52B7B7}"/>
              </a:ext>
            </a:extLst>
          </p:cNvPr>
          <p:cNvSpPr txBox="1"/>
          <p:nvPr/>
        </p:nvSpPr>
        <p:spPr>
          <a:xfrm>
            <a:off x="6638544" y="5185129"/>
            <a:ext cx="1060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6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multiple possible routes.</a:t>
            </a:r>
            <a:endParaRPr lang="en-US" sz="650" dirty="0"/>
          </a:p>
        </p:txBody>
      </p:sp>
      <p:sp>
        <p:nvSpPr>
          <p:cNvPr id="15554" name="Shape 157">
            <a:extLst>
              <a:ext uri="{FF2B5EF4-FFF2-40B4-BE49-F238E27FC236}">
                <a16:creationId xmlns:a16="http://schemas.microsoft.com/office/drawing/2014/main" id="{9062813F-3C09-4510-4DA9-00EBBA6FD58A}"/>
              </a:ext>
            </a:extLst>
          </p:cNvPr>
          <p:cNvSpPr/>
          <p:nvPr/>
        </p:nvSpPr>
        <p:spPr>
          <a:xfrm>
            <a:off x="2761488" y="5925793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19" name="Shape 89">
            <a:extLst>
              <a:ext uri="{FF2B5EF4-FFF2-40B4-BE49-F238E27FC236}">
                <a16:creationId xmlns:a16="http://schemas.microsoft.com/office/drawing/2014/main" id="{FF853539-7283-28F3-A203-E62D8BF5A4F3}"/>
              </a:ext>
            </a:extLst>
          </p:cNvPr>
          <p:cNvSpPr/>
          <p:nvPr/>
        </p:nvSpPr>
        <p:spPr>
          <a:xfrm>
            <a:off x="7981749" y="1189201"/>
            <a:ext cx="4078224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C3DBF2"/>
            </a:solidFill>
            <a:prstDash val="solid"/>
          </a:ln>
        </p:spPr>
      </p:sp>
      <p:sp>
        <p:nvSpPr>
          <p:cNvPr id="15523" name="Shape 90">
            <a:extLst>
              <a:ext uri="{FF2B5EF4-FFF2-40B4-BE49-F238E27FC236}">
                <a16:creationId xmlns:a16="http://schemas.microsoft.com/office/drawing/2014/main" id="{FA1C505C-60EC-EA5F-9F4F-353EDB555C96}"/>
              </a:ext>
            </a:extLst>
          </p:cNvPr>
          <p:cNvSpPr/>
          <p:nvPr/>
        </p:nvSpPr>
        <p:spPr>
          <a:xfrm>
            <a:off x="7982642" y="1207489"/>
            <a:ext cx="4047293" cy="475488"/>
          </a:xfrm>
          <a:prstGeom prst="roundRect">
            <a:avLst>
              <a:gd name="adj" fmla="val 11538"/>
            </a:avLst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527" name="Text 91">
            <a:extLst>
              <a:ext uri="{FF2B5EF4-FFF2-40B4-BE49-F238E27FC236}">
                <a16:creationId xmlns:a16="http://schemas.microsoft.com/office/drawing/2014/main" id="{2E03DE5C-5E2E-7D57-D798-800046B2FAEE}"/>
              </a:ext>
            </a:extLst>
          </p:cNvPr>
          <p:cNvSpPr txBox="1"/>
          <p:nvPr/>
        </p:nvSpPr>
        <p:spPr>
          <a:xfrm>
            <a:off x="8147304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Vehicle Journey Example (Multi-Camera Tracking)</a:t>
            </a:r>
            <a:endParaRPr lang="en-US" sz="1000" dirty="0"/>
          </a:p>
        </p:txBody>
      </p:sp>
      <p:sp>
        <p:nvSpPr>
          <p:cNvPr id="15531" name="Text 92">
            <a:extLst>
              <a:ext uri="{FF2B5EF4-FFF2-40B4-BE49-F238E27FC236}">
                <a16:creationId xmlns:a16="http://schemas.microsoft.com/office/drawing/2014/main" id="{CA70FC9D-D2A2-B68E-8CC1-9AB990FC4B09}"/>
              </a:ext>
            </a:extLst>
          </p:cNvPr>
          <p:cNvSpPr txBox="1"/>
          <p:nvPr/>
        </p:nvSpPr>
        <p:spPr>
          <a:xfrm>
            <a:off x="8147304" y="1481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imperfect evidence to reconstruct a probable journey</a:t>
            </a:r>
            <a:endParaRPr lang="en-US" sz="750" dirty="0"/>
          </a:p>
        </p:txBody>
      </p:sp>
      <p:sp>
        <p:nvSpPr>
          <p:cNvPr id="15535" name="Text 93">
            <a:extLst>
              <a:ext uri="{FF2B5EF4-FFF2-40B4-BE49-F238E27FC236}">
                <a16:creationId xmlns:a16="http://schemas.microsoft.com/office/drawing/2014/main" id="{C701FC18-B10C-9488-D687-3DB31BFC554D}"/>
              </a:ext>
            </a:extLst>
          </p:cNvPr>
          <p:cNvSpPr txBox="1"/>
          <p:nvPr/>
        </p:nvSpPr>
        <p:spPr>
          <a:xfrm>
            <a:off x="8165592" y="17922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Cam-101</a:t>
            </a:r>
            <a:endParaRPr lang="en-US" sz="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700" dirty="0"/>
          </a:p>
        </p:txBody>
      </p:sp>
      <p:pic>
        <p:nvPicPr>
          <p:cNvPr id="15539" name="Image 12" descr="preencoded.png">
            <a:extLst>
              <a:ext uri="{FF2B5EF4-FFF2-40B4-BE49-F238E27FC236}">
                <a16:creationId xmlns:a16="http://schemas.microsoft.com/office/drawing/2014/main" id="{9078B2FE-49C2-9AC6-5C58-5D400A761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165592" y="2066544"/>
            <a:ext cx="804672" cy="566928"/>
          </a:xfrm>
          <a:prstGeom prst="rect">
            <a:avLst/>
          </a:prstGeom>
        </p:spPr>
      </p:pic>
      <p:sp>
        <p:nvSpPr>
          <p:cNvPr id="15543" name="Shape 94">
            <a:extLst>
              <a:ext uri="{FF2B5EF4-FFF2-40B4-BE49-F238E27FC236}">
                <a16:creationId xmlns:a16="http://schemas.microsoft.com/office/drawing/2014/main" id="{91BD6C06-9C10-23AA-231F-970DA0C55ACA}"/>
              </a:ext>
            </a:extLst>
          </p:cNvPr>
          <p:cNvSpPr/>
          <p:nvPr/>
        </p:nvSpPr>
        <p:spPr>
          <a:xfrm>
            <a:off x="8202168" y="2459736"/>
            <a:ext cx="731520" cy="15544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5547" name="Text 95">
            <a:extLst>
              <a:ext uri="{FF2B5EF4-FFF2-40B4-BE49-F238E27FC236}">
                <a16:creationId xmlns:a16="http://schemas.microsoft.com/office/drawing/2014/main" id="{90564875-B487-187D-CFF7-888651DF65E1}"/>
              </a:ext>
            </a:extLst>
          </p:cNvPr>
          <p:cNvSpPr txBox="1"/>
          <p:nvPr/>
        </p:nvSpPr>
        <p:spPr>
          <a:xfrm>
            <a:off x="8202168" y="2459736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TS09AB1234</a:t>
            </a:r>
            <a:endParaRPr lang="en-US" sz="700" dirty="0"/>
          </a:p>
        </p:txBody>
      </p:sp>
      <p:sp>
        <p:nvSpPr>
          <p:cNvPr id="15551" name="Text 96">
            <a:extLst>
              <a:ext uri="{FF2B5EF4-FFF2-40B4-BE49-F238E27FC236}">
                <a16:creationId xmlns:a16="http://schemas.microsoft.com/office/drawing/2014/main" id="{10B6F406-7F8B-8F33-38E0-9A0142FC4F57}"/>
              </a:ext>
            </a:extLst>
          </p:cNvPr>
          <p:cNvSpPr txBox="1"/>
          <p:nvPr/>
        </p:nvSpPr>
        <p:spPr>
          <a:xfrm>
            <a:off x="8129016" y="267004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Conf.: 0.96</a:t>
            </a:r>
            <a:endParaRPr lang="en-US" sz="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Appearance: White SUV</a:t>
            </a:r>
            <a:endParaRPr lang="en-US" sz="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East → West</a:t>
            </a:r>
            <a:endParaRPr lang="en-US" sz="600" dirty="0"/>
          </a:p>
        </p:txBody>
      </p:sp>
      <p:sp>
        <p:nvSpPr>
          <p:cNvPr id="15555" name="Shape 97">
            <a:extLst>
              <a:ext uri="{FF2B5EF4-FFF2-40B4-BE49-F238E27FC236}">
                <a16:creationId xmlns:a16="http://schemas.microsoft.com/office/drawing/2014/main" id="{8CEA2B76-510D-FE19-E7CA-4A0889CEF48A}"/>
              </a:ext>
            </a:extLst>
          </p:cNvPr>
          <p:cNvSpPr/>
          <p:nvPr/>
        </p:nvSpPr>
        <p:spPr>
          <a:xfrm>
            <a:off x="8165592" y="3017520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5557" name="Text 98">
            <a:extLst>
              <a:ext uri="{FF2B5EF4-FFF2-40B4-BE49-F238E27FC236}">
                <a16:creationId xmlns:a16="http://schemas.microsoft.com/office/drawing/2014/main" id="{592D94D2-724B-132B-1606-B9AE5E394156}"/>
              </a:ext>
            </a:extLst>
          </p:cNvPr>
          <p:cNvSpPr txBox="1"/>
          <p:nvPr/>
        </p:nvSpPr>
        <p:spPr>
          <a:xfrm>
            <a:off x="8165592" y="30175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650" dirty="0"/>
          </a:p>
        </p:txBody>
      </p:sp>
      <p:sp>
        <p:nvSpPr>
          <p:cNvPr id="15559" name="Text 99">
            <a:extLst>
              <a:ext uri="{FF2B5EF4-FFF2-40B4-BE49-F238E27FC236}">
                <a16:creationId xmlns:a16="http://schemas.microsoft.com/office/drawing/2014/main" id="{DE1C6E3A-6CEA-45C7-CCC7-53FA601076D6}"/>
              </a:ext>
            </a:extLst>
          </p:cNvPr>
          <p:cNvSpPr txBox="1"/>
          <p:nvPr/>
        </p:nvSpPr>
        <p:spPr>
          <a:xfrm>
            <a:off x="9162288" y="17922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Cam-205</a:t>
            </a:r>
            <a:endParaRPr lang="en-US" sz="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10:04</a:t>
            </a:r>
            <a:endParaRPr lang="en-US" sz="700" dirty="0"/>
          </a:p>
        </p:txBody>
      </p:sp>
      <p:pic>
        <p:nvPicPr>
          <p:cNvPr id="15561" name="Image 13" descr="preencoded.png">
            <a:extLst>
              <a:ext uri="{FF2B5EF4-FFF2-40B4-BE49-F238E27FC236}">
                <a16:creationId xmlns:a16="http://schemas.microsoft.com/office/drawing/2014/main" id="{A11FC7AD-6DC9-B11E-FC8F-3C773DFDEB0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162288" y="2066544"/>
            <a:ext cx="804672" cy="566928"/>
          </a:xfrm>
          <a:prstGeom prst="rect">
            <a:avLst/>
          </a:prstGeom>
        </p:spPr>
      </p:pic>
      <p:sp>
        <p:nvSpPr>
          <p:cNvPr id="15563" name="Shape 100">
            <a:extLst>
              <a:ext uri="{FF2B5EF4-FFF2-40B4-BE49-F238E27FC236}">
                <a16:creationId xmlns:a16="http://schemas.microsoft.com/office/drawing/2014/main" id="{069F72A4-3738-A8CB-6D9F-2DF143FC94CB}"/>
              </a:ext>
            </a:extLst>
          </p:cNvPr>
          <p:cNvSpPr/>
          <p:nvPr/>
        </p:nvSpPr>
        <p:spPr>
          <a:xfrm>
            <a:off x="9198864" y="2459736"/>
            <a:ext cx="731520" cy="15544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565" name="Text 101">
            <a:extLst>
              <a:ext uri="{FF2B5EF4-FFF2-40B4-BE49-F238E27FC236}">
                <a16:creationId xmlns:a16="http://schemas.microsoft.com/office/drawing/2014/main" id="{511AC07F-3310-EB75-8C31-F0B4351CFBD4}"/>
              </a:ext>
            </a:extLst>
          </p:cNvPr>
          <p:cNvSpPr txBox="1"/>
          <p:nvPr/>
        </p:nvSpPr>
        <p:spPr>
          <a:xfrm>
            <a:off x="9198864" y="2459736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TS09A?1234</a:t>
            </a:r>
            <a:endParaRPr lang="en-US" sz="700" dirty="0"/>
          </a:p>
        </p:txBody>
      </p:sp>
      <p:sp>
        <p:nvSpPr>
          <p:cNvPr id="15567" name="Text 102">
            <a:extLst>
              <a:ext uri="{FF2B5EF4-FFF2-40B4-BE49-F238E27FC236}">
                <a16:creationId xmlns:a16="http://schemas.microsoft.com/office/drawing/2014/main" id="{FE72D880-BA59-B9BF-71C0-14F08B4802EA}"/>
              </a:ext>
            </a:extLst>
          </p:cNvPr>
          <p:cNvSpPr txBox="1"/>
          <p:nvPr/>
        </p:nvSpPr>
        <p:spPr>
          <a:xfrm>
            <a:off x="9125712" y="267004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Conf.: 0.43</a:t>
            </a:r>
            <a:endParaRPr lang="en-US" sz="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Appearance: Similar</a:t>
            </a:r>
            <a:endParaRPr lang="en-US" sz="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East → West</a:t>
            </a:r>
            <a:endParaRPr lang="en-US" sz="600" dirty="0"/>
          </a:p>
        </p:txBody>
      </p:sp>
      <p:sp>
        <p:nvSpPr>
          <p:cNvPr id="15569" name="Shape 103">
            <a:extLst>
              <a:ext uri="{FF2B5EF4-FFF2-40B4-BE49-F238E27FC236}">
                <a16:creationId xmlns:a16="http://schemas.microsoft.com/office/drawing/2014/main" id="{585517A6-6198-7E2F-DD0F-FE5A77E9C0BB}"/>
              </a:ext>
            </a:extLst>
          </p:cNvPr>
          <p:cNvSpPr/>
          <p:nvPr/>
        </p:nvSpPr>
        <p:spPr>
          <a:xfrm>
            <a:off x="9162288" y="3017520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571" name="Text 104">
            <a:extLst>
              <a:ext uri="{FF2B5EF4-FFF2-40B4-BE49-F238E27FC236}">
                <a16:creationId xmlns:a16="http://schemas.microsoft.com/office/drawing/2014/main" id="{486B1AE6-47EA-736B-DFB2-C3E69BCC5F32}"/>
              </a:ext>
            </a:extLst>
          </p:cNvPr>
          <p:cNvSpPr txBox="1"/>
          <p:nvPr/>
        </p:nvSpPr>
        <p:spPr>
          <a:xfrm>
            <a:off x="9162288" y="30175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(Partial)</a:t>
            </a:r>
            <a:endParaRPr lang="en-US" sz="650" dirty="0"/>
          </a:p>
        </p:txBody>
      </p:sp>
      <p:sp>
        <p:nvSpPr>
          <p:cNvPr id="15573" name="Text 105">
            <a:extLst>
              <a:ext uri="{FF2B5EF4-FFF2-40B4-BE49-F238E27FC236}">
                <a16:creationId xmlns:a16="http://schemas.microsoft.com/office/drawing/2014/main" id="{FFDA7028-F1C3-6482-CC7A-BABC80394D2E}"/>
              </a:ext>
            </a:extLst>
          </p:cNvPr>
          <p:cNvSpPr txBox="1"/>
          <p:nvPr/>
        </p:nvSpPr>
        <p:spPr>
          <a:xfrm>
            <a:off x="10158984" y="17922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Cam-317</a:t>
            </a:r>
            <a:endParaRPr lang="en-US" sz="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(Offline)</a:t>
            </a:r>
            <a:endParaRPr lang="en-US" sz="700" dirty="0"/>
          </a:p>
        </p:txBody>
      </p:sp>
      <p:pic>
        <p:nvPicPr>
          <p:cNvPr id="15575" name="Image 14" descr="preencoded.png">
            <a:extLst>
              <a:ext uri="{FF2B5EF4-FFF2-40B4-BE49-F238E27FC236}">
                <a16:creationId xmlns:a16="http://schemas.microsoft.com/office/drawing/2014/main" id="{1DDF7B18-9525-E706-337E-959948159F9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58984" y="2066544"/>
            <a:ext cx="804672" cy="566928"/>
          </a:xfrm>
          <a:prstGeom prst="rect">
            <a:avLst/>
          </a:prstGeom>
        </p:spPr>
      </p:pic>
      <p:sp>
        <p:nvSpPr>
          <p:cNvPr id="15577" name="Text 106">
            <a:extLst>
              <a:ext uri="{FF2B5EF4-FFF2-40B4-BE49-F238E27FC236}">
                <a16:creationId xmlns:a16="http://schemas.microsoft.com/office/drawing/2014/main" id="{B4517A44-CAF6-A9D8-6068-1C303BE71543}"/>
              </a:ext>
            </a:extLst>
          </p:cNvPr>
          <p:cNvSpPr txBox="1"/>
          <p:nvPr/>
        </p:nvSpPr>
        <p:spPr>
          <a:xfrm>
            <a:off x="10122408" y="267004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observation</a:t>
            </a:r>
            <a:endParaRPr lang="en-US" sz="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(Camera unavailable)</a:t>
            </a:r>
            <a:endParaRPr lang="en-US" sz="600" dirty="0"/>
          </a:p>
        </p:txBody>
      </p:sp>
      <p:sp>
        <p:nvSpPr>
          <p:cNvPr id="15579" name="Shape 107">
            <a:extLst>
              <a:ext uri="{FF2B5EF4-FFF2-40B4-BE49-F238E27FC236}">
                <a16:creationId xmlns:a16="http://schemas.microsoft.com/office/drawing/2014/main" id="{01BA845A-D29A-5999-FB5F-B0420CF93E1A}"/>
              </a:ext>
            </a:extLst>
          </p:cNvPr>
          <p:cNvSpPr/>
          <p:nvPr/>
        </p:nvSpPr>
        <p:spPr>
          <a:xfrm>
            <a:off x="10158984" y="3017520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7A8794"/>
          </a:solidFill>
          <a:ln w="12700">
            <a:solidFill>
              <a:srgbClr val="7A8794"/>
            </a:solidFill>
            <a:prstDash val="solid"/>
          </a:ln>
        </p:spPr>
      </p:sp>
      <p:sp>
        <p:nvSpPr>
          <p:cNvPr id="15581" name="Text 108">
            <a:extLst>
              <a:ext uri="{FF2B5EF4-FFF2-40B4-BE49-F238E27FC236}">
                <a16:creationId xmlns:a16="http://schemas.microsoft.com/office/drawing/2014/main" id="{7379294B-5FF9-4F3A-885B-47F1B3DBB96C}"/>
              </a:ext>
            </a:extLst>
          </p:cNvPr>
          <p:cNvSpPr txBox="1"/>
          <p:nvPr/>
        </p:nvSpPr>
        <p:spPr>
          <a:xfrm>
            <a:off x="10158984" y="30175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650" dirty="0"/>
          </a:p>
        </p:txBody>
      </p:sp>
      <p:sp>
        <p:nvSpPr>
          <p:cNvPr id="15583" name="Text 109">
            <a:extLst>
              <a:ext uri="{FF2B5EF4-FFF2-40B4-BE49-F238E27FC236}">
                <a16:creationId xmlns:a16="http://schemas.microsoft.com/office/drawing/2014/main" id="{AAB74AF5-5935-03D2-5D25-5B51C0DDD4C0}"/>
              </a:ext>
            </a:extLst>
          </p:cNvPr>
          <p:cNvSpPr txBox="1"/>
          <p:nvPr/>
        </p:nvSpPr>
        <p:spPr>
          <a:xfrm>
            <a:off x="11155680" y="179222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Cam-422</a:t>
            </a:r>
            <a:endParaRPr lang="en-US" sz="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10:12</a:t>
            </a:r>
            <a:endParaRPr lang="en-US" sz="700" dirty="0"/>
          </a:p>
        </p:txBody>
      </p:sp>
      <p:pic>
        <p:nvPicPr>
          <p:cNvPr id="15585" name="Image 15" descr="preencoded.png">
            <a:extLst>
              <a:ext uri="{FF2B5EF4-FFF2-40B4-BE49-F238E27FC236}">
                <a16:creationId xmlns:a16="http://schemas.microsoft.com/office/drawing/2014/main" id="{4A599D7C-6FF3-5EBE-8EC5-E26AE5B5A09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1155680" y="2066544"/>
            <a:ext cx="804672" cy="566928"/>
          </a:xfrm>
          <a:prstGeom prst="rect">
            <a:avLst/>
          </a:prstGeom>
        </p:spPr>
      </p:pic>
      <p:sp>
        <p:nvSpPr>
          <p:cNvPr id="15587" name="Shape 110">
            <a:extLst>
              <a:ext uri="{FF2B5EF4-FFF2-40B4-BE49-F238E27FC236}">
                <a16:creationId xmlns:a16="http://schemas.microsoft.com/office/drawing/2014/main" id="{F370CCCA-52A1-E9FD-6F73-2A2885576501}"/>
              </a:ext>
            </a:extLst>
          </p:cNvPr>
          <p:cNvSpPr/>
          <p:nvPr/>
        </p:nvSpPr>
        <p:spPr>
          <a:xfrm>
            <a:off x="11192256" y="2459736"/>
            <a:ext cx="731520" cy="15544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5589" name="Text 111">
            <a:extLst>
              <a:ext uri="{FF2B5EF4-FFF2-40B4-BE49-F238E27FC236}">
                <a16:creationId xmlns:a16="http://schemas.microsoft.com/office/drawing/2014/main" id="{09A908C6-B808-6A2B-9F58-2FD8A3E71608}"/>
              </a:ext>
            </a:extLst>
          </p:cNvPr>
          <p:cNvSpPr txBox="1"/>
          <p:nvPr/>
        </p:nvSpPr>
        <p:spPr>
          <a:xfrm>
            <a:off x="11192256" y="2459736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TS09AB1234</a:t>
            </a:r>
            <a:endParaRPr lang="en-US" sz="700" dirty="0"/>
          </a:p>
        </p:txBody>
      </p:sp>
      <p:sp>
        <p:nvSpPr>
          <p:cNvPr id="15591" name="Text 112">
            <a:extLst>
              <a:ext uri="{FF2B5EF4-FFF2-40B4-BE49-F238E27FC236}">
                <a16:creationId xmlns:a16="http://schemas.microsoft.com/office/drawing/2014/main" id="{C1015DF5-DE41-6AE1-B3FC-B66C4742C7F5}"/>
              </a:ext>
            </a:extLst>
          </p:cNvPr>
          <p:cNvSpPr txBox="1"/>
          <p:nvPr/>
        </p:nvSpPr>
        <p:spPr>
          <a:xfrm>
            <a:off x="11119104" y="267004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Conf.: 0.91</a:t>
            </a:r>
            <a:endParaRPr lang="en-US" sz="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Appearance: Match</a:t>
            </a:r>
            <a:endParaRPr lang="en-US" sz="6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6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East → West</a:t>
            </a:r>
            <a:endParaRPr lang="en-US" sz="600" dirty="0"/>
          </a:p>
        </p:txBody>
      </p:sp>
      <p:sp>
        <p:nvSpPr>
          <p:cNvPr id="15593" name="Shape 113">
            <a:extLst>
              <a:ext uri="{FF2B5EF4-FFF2-40B4-BE49-F238E27FC236}">
                <a16:creationId xmlns:a16="http://schemas.microsoft.com/office/drawing/2014/main" id="{03E2B85D-1E61-A07C-21DE-557BA10FD8A9}"/>
              </a:ext>
            </a:extLst>
          </p:cNvPr>
          <p:cNvSpPr/>
          <p:nvPr/>
        </p:nvSpPr>
        <p:spPr>
          <a:xfrm>
            <a:off x="11155680" y="3017520"/>
            <a:ext cx="804672" cy="219456"/>
          </a:xfrm>
          <a:prstGeom prst="roundRect">
            <a:avLst>
              <a:gd name="adj" fmla="val 16667"/>
            </a:avLst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5595" name="Text 114">
            <a:extLst>
              <a:ext uri="{FF2B5EF4-FFF2-40B4-BE49-F238E27FC236}">
                <a16:creationId xmlns:a16="http://schemas.microsoft.com/office/drawing/2014/main" id="{0B05C352-7982-E3A7-2796-57CCF273EF80}"/>
              </a:ext>
            </a:extLst>
          </p:cNvPr>
          <p:cNvSpPr txBox="1"/>
          <p:nvPr/>
        </p:nvSpPr>
        <p:spPr>
          <a:xfrm>
            <a:off x="11155680" y="30175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650" dirty="0"/>
          </a:p>
        </p:txBody>
      </p:sp>
      <p:sp>
        <p:nvSpPr>
          <p:cNvPr id="15597" name="Shape 115">
            <a:extLst>
              <a:ext uri="{FF2B5EF4-FFF2-40B4-BE49-F238E27FC236}">
                <a16:creationId xmlns:a16="http://schemas.microsoft.com/office/drawing/2014/main" id="{089C1561-A488-41DA-1A9C-4A77FDE5D775}"/>
              </a:ext>
            </a:extLst>
          </p:cNvPr>
          <p:cNvSpPr/>
          <p:nvPr/>
        </p:nvSpPr>
        <p:spPr>
          <a:xfrm>
            <a:off x="9006840" y="2295144"/>
            <a:ext cx="155448" cy="109728"/>
          </a:xfrm>
          <a:prstGeom prst="rightArrow">
            <a:avLst/>
          </a:prstGeom>
          <a:solidFill>
            <a:srgbClr val="1F6FD6"/>
          </a:solidFill>
          <a:ln w="12700">
            <a:solidFill>
              <a:srgbClr val="1F6FD6"/>
            </a:solidFill>
            <a:prstDash val="solid"/>
          </a:ln>
        </p:spPr>
      </p:sp>
      <p:sp>
        <p:nvSpPr>
          <p:cNvPr id="15599" name="Shape 116">
            <a:extLst>
              <a:ext uri="{FF2B5EF4-FFF2-40B4-BE49-F238E27FC236}">
                <a16:creationId xmlns:a16="http://schemas.microsoft.com/office/drawing/2014/main" id="{E7A10935-31D7-BE07-88F9-DB0AAC71114D}"/>
              </a:ext>
            </a:extLst>
          </p:cNvPr>
          <p:cNvSpPr/>
          <p:nvPr/>
        </p:nvSpPr>
        <p:spPr>
          <a:xfrm>
            <a:off x="10003536" y="2295144"/>
            <a:ext cx="155448" cy="109728"/>
          </a:xfrm>
          <a:prstGeom prst="rightArrow">
            <a:avLst/>
          </a:prstGeom>
          <a:solidFill>
            <a:srgbClr val="1F6FD6"/>
          </a:solidFill>
          <a:ln w="12700">
            <a:solidFill>
              <a:srgbClr val="1F6FD6"/>
            </a:solidFill>
            <a:prstDash val="solid"/>
          </a:ln>
        </p:spPr>
      </p:sp>
      <p:sp>
        <p:nvSpPr>
          <p:cNvPr id="15601" name="Shape 117">
            <a:extLst>
              <a:ext uri="{FF2B5EF4-FFF2-40B4-BE49-F238E27FC236}">
                <a16:creationId xmlns:a16="http://schemas.microsoft.com/office/drawing/2014/main" id="{F458F67E-CE7C-8F6E-9C64-31EAEEB87F7C}"/>
              </a:ext>
            </a:extLst>
          </p:cNvPr>
          <p:cNvSpPr/>
          <p:nvPr/>
        </p:nvSpPr>
        <p:spPr>
          <a:xfrm>
            <a:off x="11000232" y="2295144"/>
            <a:ext cx="155448" cy="109728"/>
          </a:xfrm>
          <a:prstGeom prst="rightArrow">
            <a:avLst/>
          </a:prstGeom>
          <a:solidFill>
            <a:srgbClr val="1F6FD6"/>
          </a:solidFill>
          <a:ln w="12700">
            <a:solidFill>
              <a:srgbClr val="1F6FD6"/>
            </a:solidFill>
            <a:prstDash val="solid"/>
          </a:ln>
        </p:spPr>
      </p:sp>
      <p:sp>
        <p:nvSpPr>
          <p:cNvPr id="15603" name="Shape 118">
            <a:extLst>
              <a:ext uri="{FF2B5EF4-FFF2-40B4-BE49-F238E27FC236}">
                <a16:creationId xmlns:a16="http://schemas.microsoft.com/office/drawing/2014/main" id="{88E93A92-980D-D6E2-E434-F0DF3C127B68}"/>
              </a:ext>
            </a:extLst>
          </p:cNvPr>
          <p:cNvSpPr/>
          <p:nvPr/>
        </p:nvSpPr>
        <p:spPr>
          <a:xfrm>
            <a:off x="8321040" y="3419856"/>
            <a:ext cx="658368" cy="0"/>
          </a:xfrm>
          <a:prstGeom prst="line">
            <a:avLst/>
          </a:prstGeom>
          <a:noFill/>
          <a:ln w="15875">
            <a:solidFill>
              <a:srgbClr val="22486E"/>
            </a:solidFill>
            <a:prstDash val="solid"/>
          </a:ln>
        </p:spPr>
      </p:sp>
      <p:sp>
        <p:nvSpPr>
          <p:cNvPr id="15605" name="Shape 119">
            <a:extLst>
              <a:ext uri="{FF2B5EF4-FFF2-40B4-BE49-F238E27FC236}">
                <a16:creationId xmlns:a16="http://schemas.microsoft.com/office/drawing/2014/main" id="{8F058683-52B6-C25D-FC46-31D659CD617F}"/>
              </a:ext>
            </a:extLst>
          </p:cNvPr>
          <p:cNvSpPr/>
          <p:nvPr/>
        </p:nvSpPr>
        <p:spPr>
          <a:xfrm>
            <a:off x="9089136" y="3419856"/>
            <a:ext cx="658368" cy="0"/>
          </a:xfrm>
          <a:prstGeom prst="line">
            <a:avLst/>
          </a:prstGeom>
          <a:noFill/>
          <a:ln w="15875">
            <a:solidFill>
              <a:srgbClr val="5B7FA8"/>
            </a:solidFill>
            <a:prstDash val="dash"/>
          </a:ln>
        </p:spPr>
      </p:sp>
      <p:sp>
        <p:nvSpPr>
          <p:cNvPr id="15607" name="Shape 120">
            <a:extLst>
              <a:ext uri="{FF2B5EF4-FFF2-40B4-BE49-F238E27FC236}">
                <a16:creationId xmlns:a16="http://schemas.microsoft.com/office/drawing/2014/main" id="{D651F2BA-0EBE-BC6F-FE82-95DA4E1A4AC0}"/>
              </a:ext>
            </a:extLst>
          </p:cNvPr>
          <p:cNvSpPr/>
          <p:nvPr/>
        </p:nvSpPr>
        <p:spPr>
          <a:xfrm>
            <a:off x="9857232" y="3419856"/>
            <a:ext cx="658368" cy="0"/>
          </a:xfrm>
          <a:prstGeom prst="line">
            <a:avLst/>
          </a:prstGeom>
          <a:noFill/>
          <a:ln w="15875">
            <a:solidFill>
              <a:srgbClr val="22486E"/>
            </a:solidFill>
            <a:prstDash val="solid"/>
          </a:ln>
        </p:spPr>
      </p:sp>
      <p:sp>
        <p:nvSpPr>
          <p:cNvPr id="15609" name="Shape 121">
            <a:extLst>
              <a:ext uri="{FF2B5EF4-FFF2-40B4-BE49-F238E27FC236}">
                <a16:creationId xmlns:a16="http://schemas.microsoft.com/office/drawing/2014/main" id="{323B1BC1-130F-7182-F9FA-961BDB347A32}"/>
              </a:ext>
            </a:extLst>
          </p:cNvPr>
          <p:cNvSpPr/>
          <p:nvPr/>
        </p:nvSpPr>
        <p:spPr>
          <a:xfrm>
            <a:off x="8206740" y="3360420"/>
            <a:ext cx="118872" cy="118872"/>
          </a:xfrm>
          <a:prstGeom prst="ellipse">
            <a:avLst/>
          </a:prstGeom>
          <a:solidFill>
            <a:srgbClr val="1E7A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611" name="Shape 123">
            <a:extLst>
              <a:ext uri="{FF2B5EF4-FFF2-40B4-BE49-F238E27FC236}">
                <a16:creationId xmlns:a16="http://schemas.microsoft.com/office/drawing/2014/main" id="{9C955C01-EF1C-7328-1E37-B6C6EE3F3194}"/>
              </a:ext>
            </a:extLst>
          </p:cNvPr>
          <p:cNvSpPr/>
          <p:nvPr/>
        </p:nvSpPr>
        <p:spPr>
          <a:xfrm>
            <a:off x="8974836" y="3360420"/>
            <a:ext cx="118872" cy="11887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613" name="Text 124">
            <a:extLst>
              <a:ext uri="{FF2B5EF4-FFF2-40B4-BE49-F238E27FC236}">
                <a16:creationId xmlns:a16="http://schemas.microsoft.com/office/drawing/2014/main" id="{CBC1A612-FB6F-47A7-5E94-488AE7B9C6B1}"/>
              </a:ext>
            </a:extLst>
          </p:cNvPr>
          <p:cNvSpPr txBox="1"/>
          <p:nvPr/>
        </p:nvSpPr>
        <p:spPr>
          <a:xfrm>
            <a:off x="8668512" y="35112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C205</a:t>
            </a:r>
            <a:endParaRPr lang="en-US" sz="6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10:04</a:t>
            </a:r>
            <a:endParaRPr lang="en-US" sz="650" dirty="0"/>
          </a:p>
        </p:txBody>
      </p:sp>
      <p:sp>
        <p:nvSpPr>
          <p:cNvPr id="15615" name="Shape 125">
            <a:extLst>
              <a:ext uri="{FF2B5EF4-FFF2-40B4-BE49-F238E27FC236}">
                <a16:creationId xmlns:a16="http://schemas.microsoft.com/office/drawing/2014/main" id="{E4C53C42-AE76-D9F0-F069-AC6C4C9C6E3F}"/>
              </a:ext>
            </a:extLst>
          </p:cNvPr>
          <p:cNvSpPr/>
          <p:nvPr/>
        </p:nvSpPr>
        <p:spPr>
          <a:xfrm>
            <a:off x="9742932" y="3360420"/>
            <a:ext cx="118872" cy="118872"/>
          </a:xfrm>
          <a:prstGeom prst="ellipse">
            <a:avLst/>
          </a:prstGeom>
          <a:solidFill>
            <a:srgbClr val="7A879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617" name="Text 126">
            <a:extLst>
              <a:ext uri="{FF2B5EF4-FFF2-40B4-BE49-F238E27FC236}">
                <a16:creationId xmlns:a16="http://schemas.microsoft.com/office/drawing/2014/main" id="{FE667074-EB4B-B7E7-2F28-F0E9D33DA8F3}"/>
              </a:ext>
            </a:extLst>
          </p:cNvPr>
          <p:cNvSpPr txBox="1"/>
          <p:nvPr/>
        </p:nvSpPr>
        <p:spPr>
          <a:xfrm>
            <a:off x="9436608" y="35112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C317</a:t>
            </a:r>
            <a:endParaRPr lang="en-US" sz="6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(Offline)</a:t>
            </a:r>
            <a:endParaRPr lang="en-US" sz="650" dirty="0"/>
          </a:p>
        </p:txBody>
      </p:sp>
      <p:sp>
        <p:nvSpPr>
          <p:cNvPr id="15619" name="Shape 127">
            <a:extLst>
              <a:ext uri="{FF2B5EF4-FFF2-40B4-BE49-F238E27FC236}">
                <a16:creationId xmlns:a16="http://schemas.microsoft.com/office/drawing/2014/main" id="{287DD1DB-7445-AF3A-9085-859ABBE27250}"/>
              </a:ext>
            </a:extLst>
          </p:cNvPr>
          <p:cNvSpPr/>
          <p:nvPr/>
        </p:nvSpPr>
        <p:spPr>
          <a:xfrm>
            <a:off x="10511028" y="3360420"/>
            <a:ext cx="118872" cy="118872"/>
          </a:xfrm>
          <a:prstGeom prst="ellipse">
            <a:avLst/>
          </a:prstGeom>
          <a:solidFill>
            <a:srgbClr val="1E7A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621" name="Text 128">
            <a:extLst>
              <a:ext uri="{FF2B5EF4-FFF2-40B4-BE49-F238E27FC236}">
                <a16:creationId xmlns:a16="http://schemas.microsoft.com/office/drawing/2014/main" id="{41A62883-59C5-9CBE-0423-C58528C3D74E}"/>
              </a:ext>
            </a:extLst>
          </p:cNvPr>
          <p:cNvSpPr txBox="1"/>
          <p:nvPr/>
        </p:nvSpPr>
        <p:spPr>
          <a:xfrm>
            <a:off x="10204704" y="35112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C422</a:t>
            </a:r>
            <a:endParaRPr lang="en-US" sz="6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6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10:12</a:t>
            </a:r>
            <a:endParaRPr lang="en-US" sz="650" dirty="0"/>
          </a:p>
        </p:txBody>
      </p:sp>
      <p:sp>
        <p:nvSpPr>
          <p:cNvPr id="15623" name="Shape 129">
            <a:extLst>
              <a:ext uri="{FF2B5EF4-FFF2-40B4-BE49-F238E27FC236}">
                <a16:creationId xmlns:a16="http://schemas.microsoft.com/office/drawing/2014/main" id="{35C418E0-4936-14F3-3246-1EC747A11F69}"/>
              </a:ext>
            </a:extLst>
          </p:cNvPr>
          <p:cNvSpPr/>
          <p:nvPr/>
        </p:nvSpPr>
        <p:spPr>
          <a:xfrm>
            <a:off x="10863072" y="3287268"/>
            <a:ext cx="100584" cy="100584"/>
          </a:xfrm>
          <a:prstGeom prst="ellipse">
            <a:avLst/>
          </a:prstGeom>
          <a:solidFill>
            <a:srgbClr val="1E7A46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5625" name="Text 130">
            <a:extLst>
              <a:ext uri="{FF2B5EF4-FFF2-40B4-BE49-F238E27FC236}">
                <a16:creationId xmlns:a16="http://schemas.microsoft.com/office/drawing/2014/main" id="{FDC2E3E3-6374-BA4E-BD52-D86EB37C1FA9}"/>
              </a:ext>
            </a:extLst>
          </p:cNvPr>
          <p:cNvSpPr txBox="1"/>
          <p:nvPr/>
        </p:nvSpPr>
        <p:spPr>
          <a:xfrm>
            <a:off x="11009376" y="3273552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650" dirty="0"/>
          </a:p>
        </p:txBody>
      </p:sp>
      <p:sp>
        <p:nvSpPr>
          <p:cNvPr id="15627" name="Shape 131">
            <a:extLst>
              <a:ext uri="{FF2B5EF4-FFF2-40B4-BE49-F238E27FC236}">
                <a16:creationId xmlns:a16="http://schemas.microsoft.com/office/drawing/2014/main" id="{F5E1367E-B43F-C31D-6DAC-FA5D77DF39EF}"/>
              </a:ext>
            </a:extLst>
          </p:cNvPr>
          <p:cNvSpPr/>
          <p:nvPr/>
        </p:nvSpPr>
        <p:spPr>
          <a:xfrm>
            <a:off x="10863072" y="3429000"/>
            <a:ext cx="100584" cy="1005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629" name="Text 132">
            <a:extLst>
              <a:ext uri="{FF2B5EF4-FFF2-40B4-BE49-F238E27FC236}">
                <a16:creationId xmlns:a16="http://schemas.microsoft.com/office/drawing/2014/main" id="{DB7A30F0-879C-9F89-A9C1-71246F0EEA6E}"/>
              </a:ext>
            </a:extLst>
          </p:cNvPr>
          <p:cNvSpPr txBox="1"/>
          <p:nvPr/>
        </p:nvSpPr>
        <p:spPr>
          <a:xfrm>
            <a:off x="11009376" y="3415284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(Probable)</a:t>
            </a:r>
            <a:endParaRPr lang="en-US" sz="650" dirty="0"/>
          </a:p>
        </p:txBody>
      </p:sp>
      <p:sp>
        <p:nvSpPr>
          <p:cNvPr id="15631" name="Shape 133">
            <a:extLst>
              <a:ext uri="{FF2B5EF4-FFF2-40B4-BE49-F238E27FC236}">
                <a16:creationId xmlns:a16="http://schemas.microsoft.com/office/drawing/2014/main" id="{79E6ACD9-8C6B-253A-D508-35B12E950787}"/>
              </a:ext>
            </a:extLst>
          </p:cNvPr>
          <p:cNvSpPr/>
          <p:nvPr/>
        </p:nvSpPr>
        <p:spPr>
          <a:xfrm>
            <a:off x="10863072" y="3570732"/>
            <a:ext cx="100584" cy="100584"/>
          </a:xfrm>
          <a:prstGeom prst="ellipse">
            <a:avLst/>
          </a:prstGeom>
          <a:solidFill>
            <a:srgbClr val="7A8794"/>
          </a:solidFill>
          <a:ln w="12700">
            <a:solidFill>
              <a:srgbClr val="7A8794"/>
            </a:solidFill>
            <a:prstDash val="solid"/>
          </a:ln>
        </p:spPr>
      </p:sp>
      <p:sp>
        <p:nvSpPr>
          <p:cNvPr id="15633" name="Text 134">
            <a:extLst>
              <a:ext uri="{FF2B5EF4-FFF2-40B4-BE49-F238E27FC236}">
                <a16:creationId xmlns:a16="http://schemas.microsoft.com/office/drawing/2014/main" id="{CEE13500-5864-1CA8-B40C-A0AB512029CA}"/>
              </a:ext>
            </a:extLst>
          </p:cNvPr>
          <p:cNvSpPr txBox="1"/>
          <p:nvPr/>
        </p:nvSpPr>
        <p:spPr>
          <a:xfrm>
            <a:off x="11009376" y="3557016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(No Data)</a:t>
            </a:r>
            <a:endParaRPr lang="en-US" sz="650" dirty="0"/>
          </a:p>
        </p:txBody>
      </p:sp>
      <p:sp>
        <p:nvSpPr>
          <p:cNvPr id="15635" name="Shape 135">
            <a:extLst>
              <a:ext uri="{FF2B5EF4-FFF2-40B4-BE49-F238E27FC236}">
                <a16:creationId xmlns:a16="http://schemas.microsoft.com/office/drawing/2014/main" id="{25D03D3F-8B56-ABC1-5332-799542584AA2}"/>
              </a:ext>
            </a:extLst>
          </p:cNvPr>
          <p:cNvSpPr/>
          <p:nvPr/>
        </p:nvSpPr>
        <p:spPr>
          <a:xfrm>
            <a:off x="10863072" y="3712464"/>
            <a:ext cx="100584" cy="100584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5637" name="Text 136">
            <a:extLst>
              <a:ext uri="{FF2B5EF4-FFF2-40B4-BE49-F238E27FC236}">
                <a16:creationId xmlns:a16="http://schemas.microsoft.com/office/drawing/2014/main" id="{9EF60C24-9212-682F-68EF-F5908749F05E}"/>
              </a:ext>
            </a:extLst>
          </p:cNvPr>
          <p:cNvSpPr txBox="1"/>
          <p:nvPr/>
        </p:nvSpPr>
        <p:spPr>
          <a:xfrm>
            <a:off x="11009376" y="369874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 (Rejected)</a:t>
            </a:r>
            <a:endParaRPr lang="en-US" sz="650" dirty="0"/>
          </a:p>
        </p:txBody>
      </p:sp>
      <p:sp>
        <p:nvSpPr>
          <p:cNvPr id="15639" name="Shape 137">
            <a:extLst>
              <a:ext uri="{FF2B5EF4-FFF2-40B4-BE49-F238E27FC236}">
                <a16:creationId xmlns:a16="http://schemas.microsoft.com/office/drawing/2014/main" id="{EC41AE10-96AE-F9C0-3D6E-339F1F88B458}"/>
              </a:ext>
            </a:extLst>
          </p:cNvPr>
          <p:cNvSpPr/>
          <p:nvPr/>
        </p:nvSpPr>
        <p:spPr>
          <a:xfrm>
            <a:off x="8028432" y="4041648"/>
            <a:ext cx="4078224" cy="1783080"/>
          </a:xfrm>
          <a:prstGeom prst="roundRect">
            <a:avLst>
              <a:gd name="adj" fmla="val 3077"/>
            </a:avLst>
          </a:prstGeom>
          <a:solidFill>
            <a:srgbClr val="F7FBFF"/>
          </a:solidFill>
          <a:ln w="12700">
            <a:solidFill>
              <a:srgbClr val="C3DBF2"/>
            </a:solidFill>
            <a:prstDash val="solid"/>
          </a:ln>
        </p:spPr>
      </p:sp>
      <p:sp>
        <p:nvSpPr>
          <p:cNvPr id="15641" name="Shape 138">
            <a:extLst>
              <a:ext uri="{FF2B5EF4-FFF2-40B4-BE49-F238E27FC236}">
                <a16:creationId xmlns:a16="http://schemas.microsoft.com/office/drawing/2014/main" id="{1047937C-388D-09D5-0B61-44D15252E063}"/>
              </a:ext>
            </a:extLst>
          </p:cNvPr>
          <p:cNvSpPr/>
          <p:nvPr/>
        </p:nvSpPr>
        <p:spPr>
          <a:xfrm>
            <a:off x="8028432" y="4041648"/>
            <a:ext cx="4078224" cy="457200"/>
          </a:xfrm>
          <a:prstGeom prst="roundRect">
            <a:avLst>
              <a:gd name="adj" fmla="val 12000"/>
            </a:avLst>
          </a:prstGeom>
          <a:solidFill>
            <a:srgbClr val="1A56B0"/>
          </a:solidFill>
          <a:ln w="12700">
            <a:solidFill>
              <a:srgbClr val="1A56B0"/>
            </a:solidFill>
            <a:prstDash val="solid"/>
          </a:ln>
        </p:spPr>
      </p:sp>
      <p:sp>
        <p:nvSpPr>
          <p:cNvPr id="15643" name="Text 139">
            <a:extLst>
              <a:ext uri="{FF2B5EF4-FFF2-40B4-BE49-F238E27FC236}">
                <a16:creationId xmlns:a16="http://schemas.microsoft.com/office/drawing/2014/main" id="{6ADD6B4F-6EC2-E51E-C7CF-E2B75E49235C}"/>
              </a:ext>
            </a:extLst>
          </p:cNvPr>
          <p:cNvSpPr txBox="1"/>
          <p:nvPr/>
        </p:nvSpPr>
        <p:spPr>
          <a:xfrm>
            <a:off x="8147304" y="4069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TRACE-X Research &amp; Innovation Layer</a:t>
            </a:r>
            <a:endParaRPr lang="en-US" sz="1100" dirty="0"/>
          </a:p>
        </p:txBody>
      </p:sp>
      <p:sp>
        <p:nvSpPr>
          <p:cNvPr id="15645" name="Text 140">
            <a:extLst>
              <a:ext uri="{FF2B5EF4-FFF2-40B4-BE49-F238E27FC236}">
                <a16:creationId xmlns:a16="http://schemas.microsoft.com/office/drawing/2014/main" id="{9830AA04-F969-300E-3E54-39256FE65843}"/>
              </a:ext>
            </a:extLst>
          </p:cNvPr>
          <p:cNvSpPr txBox="1"/>
          <p:nvPr/>
        </p:nvSpPr>
        <p:spPr>
          <a:xfrm>
            <a:off x="8147304" y="42611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detection – towards trustworthy vehicle intelligence</a:t>
            </a:r>
            <a:endParaRPr lang="en-US" sz="750" dirty="0"/>
          </a:p>
        </p:txBody>
      </p:sp>
      <p:sp>
        <p:nvSpPr>
          <p:cNvPr id="15647" name="Shape 141">
            <a:extLst>
              <a:ext uri="{FF2B5EF4-FFF2-40B4-BE49-F238E27FC236}">
                <a16:creationId xmlns:a16="http://schemas.microsoft.com/office/drawing/2014/main" id="{E0DC7B03-7AF2-ACAE-82F9-EF3D72404ED7}"/>
              </a:ext>
            </a:extLst>
          </p:cNvPr>
          <p:cNvSpPr/>
          <p:nvPr/>
        </p:nvSpPr>
        <p:spPr>
          <a:xfrm>
            <a:off x="8165592" y="4590288"/>
            <a:ext cx="1207008" cy="1115568"/>
          </a:xfrm>
          <a:prstGeom prst="roundRect">
            <a:avLst>
              <a:gd name="adj" fmla="val 4098"/>
            </a:avLst>
          </a:prstGeom>
          <a:solidFill>
            <a:srgbClr val="F4F0FD"/>
          </a:solidFill>
          <a:ln w="12700">
            <a:solidFill>
              <a:srgbClr val="DCD1F5"/>
            </a:solidFill>
            <a:prstDash val="solid"/>
          </a:ln>
        </p:spPr>
      </p:sp>
      <p:sp>
        <p:nvSpPr>
          <p:cNvPr id="15649" name="Shape 142">
            <a:extLst>
              <a:ext uri="{FF2B5EF4-FFF2-40B4-BE49-F238E27FC236}">
                <a16:creationId xmlns:a16="http://schemas.microsoft.com/office/drawing/2014/main" id="{96ED6028-5CAC-0CE1-6B4E-0338BD706938}"/>
              </a:ext>
            </a:extLst>
          </p:cNvPr>
          <p:cNvSpPr/>
          <p:nvPr/>
        </p:nvSpPr>
        <p:spPr>
          <a:xfrm>
            <a:off x="8238744" y="4681728"/>
            <a:ext cx="219456" cy="219456"/>
          </a:xfrm>
          <a:prstGeom prst="ellipse">
            <a:avLst/>
          </a:prstGeom>
          <a:solidFill>
            <a:srgbClr val="6B43C7"/>
          </a:solidFill>
          <a:ln w="12700">
            <a:solidFill>
              <a:srgbClr val="6B43C7"/>
            </a:solidFill>
            <a:prstDash val="solid"/>
          </a:ln>
        </p:spPr>
      </p:sp>
      <p:sp>
        <p:nvSpPr>
          <p:cNvPr id="15651" name="Text 143">
            <a:extLst>
              <a:ext uri="{FF2B5EF4-FFF2-40B4-BE49-F238E27FC236}">
                <a16:creationId xmlns:a16="http://schemas.microsoft.com/office/drawing/2014/main" id="{2106A489-1234-707D-3B29-3038402C3182}"/>
              </a:ext>
            </a:extLst>
          </p:cNvPr>
          <p:cNvSpPr txBox="1"/>
          <p:nvPr/>
        </p:nvSpPr>
        <p:spPr>
          <a:xfrm>
            <a:off x="8238744" y="4681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000" dirty="0"/>
          </a:p>
        </p:txBody>
      </p:sp>
      <p:sp>
        <p:nvSpPr>
          <p:cNvPr id="15653" name="Text 144">
            <a:extLst>
              <a:ext uri="{FF2B5EF4-FFF2-40B4-BE49-F238E27FC236}">
                <a16:creationId xmlns:a16="http://schemas.microsoft.com/office/drawing/2014/main" id="{F5840076-302D-F19A-FF49-FD68E47FE662}"/>
              </a:ext>
            </a:extLst>
          </p:cNvPr>
          <p:cNvSpPr txBox="1"/>
          <p:nvPr/>
        </p:nvSpPr>
        <p:spPr>
          <a:xfrm>
            <a:off x="8494776" y="4663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</a:t>
            </a:r>
            <a:endParaRPr lang="en-US" sz="75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Selection</a:t>
            </a:r>
            <a:endParaRPr lang="en-US" sz="750" dirty="0"/>
          </a:p>
        </p:txBody>
      </p:sp>
      <p:sp>
        <p:nvSpPr>
          <p:cNvPr id="15655" name="Text 145">
            <a:extLst>
              <a:ext uri="{FF2B5EF4-FFF2-40B4-BE49-F238E27FC236}">
                <a16:creationId xmlns:a16="http://schemas.microsoft.com/office/drawing/2014/main" id="{85492005-A75A-BCD0-2C64-32DF465D0C98}"/>
              </a:ext>
            </a:extLst>
          </p:cNvPr>
          <p:cNvSpPr txBox="1"/>
          <p:nvPr/>
        </p:nvSpPr>
        <p:spPr>
          <a:xfrm>
            <a:off x="8238744" y="4974336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most useful next cameras to reduce uncertainty.</a:t>
            </a:r>
            <a:endParaRPr lang="en-US" sz="700" dirty="0"/>
          </a:p>
        </p:txBody>
      </p:sp>
      <p:sp>
        <p:nvSpPr>
          <p:cNvPr id="15657" name="Shape 146">
            <a:extLst>
              <a:ext uri="{FF2B5EF4-FFF2-40B4-BE49-F238E27FC236}">
                <a16:creationId xmlns:a16="http://schemas.microsoft.com/office/drawing/2014/main" id="{3A2E8EC3-432C-507E-74E9-0B49161B79CA}"/>
              </a:ext>
            </a:extLst>
          </p:cNvPr>
          <p:cNvSpPr/>
          <p:nvPr/>
        </p:nvSpPr>
        <p:spPr>
          <a:xfrm>
            <a:off x="9464040" y="4590288"/>
            <a:ext cx="1207008" cy="1115568"/>
          </a:xfrm>
          <a:prstGeom prst="roundRect">
            <a:avLst>
              <a:gd name="adj" fmla="val 4098"/>
            </a:avLst>
          </a:prstGeom>
          <a:solidFill>
            <a:srgbClr val="EFF6FE"/>
          </a:solidFill>
          <a:ln w="12700">
            <a:solidFill>
              <a:srgbClr val="CFE2F8"/>
            </a:solidFill>
            <a:prstDash val="solid"/>
          </a:ln>
        </p:spPr>
      </p:sp>
      <p:sp>
        <p:nvSpPr>
          <p:cNvPr id="15659" name="Shape 147">
            <a:extLst>
              <a:ext uri="{FF2B5EF4-FFF2-40B4-BE49-F238E27FC236}">
                <a16:creationId xmlns:a16="http://schemas.microsoft.com/office/drawing/2014/main" id="{69308067-13A1-AD34-B3F5-22543FB70A3B}"/>
              </a:ext>
            </a:extLst>
          </p:cNvPr>
          <p:cNvSpPr/>
          <p:nvPr/>
        </p:nvSpPr>
        <p:spPr>
          <a:xfrm>
            <a:off x="9537192" y="4681728"/>
            <a:ext cx="219456" cy="219456"/>
          </a:xfrm>
          <a:prstGeom prst="ellipse">
            <a:avLst/>
          </a:prstGeom>
          <a:solidFill>
            <a:srgbClr val="1F6FD6"/>
          </a:solidFill>
          <a:ln w="12700">
            <a:solidFill>
              <a:srgbClr val="1F6FD6"/>
            </a:solidFill>
            <a:prstDash val="solid"/>
          </a:ln>
        </p:spPr>
      </p:sp>
      <p:sp>
        <p:nvSpPr>
          <p:cNvPr id="15661" name="Text 148">
            <a:extLst>
              <a:ext uri="{FF2B5EF4-FFF2-40B4-BE49-F238E27FC236}">
                <a16:creationId xmlns:a16="http://schemas.microsoft.com/office/drawing/2014/main" id="{472CEC29-B4F1-3D18-2D82-115BE5B38B0D}"/>
              </a:ext>
            </a:extLst>
          </p:cNvPr>
          <p:cNvSpPr txBox="1"/>
          <p:nvPr/>
        </p:nvSpPr>
        <p:spPr>
          <a:xfrm>
            <a:off x="9537192" y="4681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663" name="Text 149">
            <a:extLst>
              <a:ext uri="{FF2B5EF4-FFF2-40B4-BE49-F238E27FC236}">
                <a16:creationId xmlns:a16="http://schemas.microsoft.com/office/drawing/2014/main" id="{5D4A627F-67D4-7E76-0B1C-499670266084}"/>
              </a:ext>
            </a:extLst>
          </p:cNvPr>
          <p:cNvSpPr txBox="1"/>
          <p:nvPr/>
        </p:nvSpPr>
        <p:spPr>
          <a:xfrm>
            <a:off x="9793224" y="4663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Uncertainty-Driven</a:t>
            </a:r>
            <a:endParaRPr lang="en-US" sz="75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Processing</a:t>
            </a:r>
            <a:endParaRPr lang="en-US" sz="750" dirty="0"/>
          </a:p>
        </p:txBody>
      </p:sp>
      <p:sp>
        <p:nvSpPr>
          <p:cNvPr id="15665" name="Text 150">
            <a:extLst>
              <a:ext uri="{FF2B5EF4-FFF2-40B4-BE49-F238E27FC236}">
                <a16:creationId xmlns:a16="http://schemas.microsoft.com/office/drawing/2014/main" id="{7F0256DD-F359-BB76-C984-6141555C98FE}"/>
              </a:ext>
            </a:extLst>
          </p:cNvPr>
          <p:cNvSpPr txBox="1"/>
          <p:nvPr/>
        </p:nvSpPr>
        <p:spPr>
          <a:xfrm>
            <a:off x="9537192" y="4974336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more compute on uncertain events.</a:t>
            </a:r>
            <a:endParaRPr lang="en-US" sz="700" dirty="0"/>
          </a:p>
        </p:txBody>
      </p:sp>
      <p:sp>
        <p:nvSpPr>
          <p:cNvPr id="15667" name="Shape 151">
            <a:extLst>
              <a:ext uri="{FF2B5EF4-FFF2-40B4-BE49-F238E27FC236}">
                <a16:creationId xmlns:a16="http://schemas.microsoft.com/office/drawing/2014/main" id="{90552DE9-5DF7-177B-E992-1844D6841666}"/>
              </a:ext>
            </a:extLst>
          </p:cNvPr>
          <p:cNvSpPr/>
          <p:nvPr/>
        </p:nvSpPr>
        <p:spPr>
          <a:xfrm>
            <a:off x="10762488" y="4590288"/>
            <a:ext cx="1207008" cy="1115568"/>
          </a:xfrm>
          <a:prstGeom prst="roundRect">
            <a:avLst>
              <a:gd name="adj" fmla="val 4098"/>
            </a:avLst>
          </a:prstGeom>
          <a:solidFill>
            <a:srgbClr val="FFF7E6"/>
          </a:solidFill>
          <a:ln w="12700">
            <a:solidFill>
              <a:srgbClr val="F5E0B5"/>
            </a:solidFill>
            <a:prstDash val="solid"/>
          </a:ln>
        </p:spPr>
      </p:sp>
      <p:sp>
        <p:nvSpPr>
          <p:cNvPr id="15669" name="Shape 152">
            <a:extLst>
              <a:ext uri="{FF2B5EF4-FFF2-40B4-BE49-F238E27FC236}">
                <a16:creationId xmlns:a16="http://schemas.microsoft.com/office/drawing/2014/main" id="{BDB6CBCA-F53C-E255-89D4-2564AF932E56}"/>
              </a:ext>
            </a:extLst>
          </p:cNvPr>
          <p:cNvSpPr/>
          <p:nvPr/>
        </p:nvSpPr>
        <p:spPr>
          <a:xfrm>
            <a:off x="10835640" y="4681728"/>
            <a:ext cx="219456" cy="21945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671" name="Text 153">
            <a:extLst>
              <a:ext uri="{FF2B5EF4-FFF2-40B4-BE49-F238E27FC236}">
                <a16:creationId xmlns:a16="http://schemas.microsoft.com/office/drawing/2014/main" id="{63CFAF20-29C7-DCA1-C552-C993A3933244}"/>
              </a:ext>
            </a:extLst>
          </p:cNvPr>
          <p:cNvSpPr txBox="1"/>
          <p:nvPr/>
        </p:nvSpPr>
        <p:spPr>
          <a:xfrm>
            <a:off x="10835640" y="46817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5673" name="Text 154">
            <a:extLst>
              <a:ext uri="{FF2B5EF4-FFF2-40B4-BE49-F238E27FC236}">
                <a16:creationId xmlns:a16="http://schemas.microsoft.com/office/drawing/2014/main" id="{137DB821-4E39-BCDC-77B8-56E16D079222}"/>
              </a:ext>
            </a:extLst>
          </p:cNvPr>
          <p:cNvSpPr txBox="1"/>
          <p:nvPr/>
        </p:nvSpPr>
        <p:spPr>
          <a:xfrm>
            <a:off x="11091672" y="46634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75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23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50" dirty="0"/>
          </a:p>
        </p:txBody>
      </p:sp>
      <p:sp>
        <p:nvSpPr>
          <p:cNvPr id="15675" name="Text 155">
            <a:extLst>
              <a:ext uri="{FF2B5EF4-FFF2-40B4-BE49-F238E27FC236}">
                <a16:creationId xmlns:a16="http://schemas.microsoft.com/office/drawing/2014/main" id="{899191D8-6C8E-FBFF-85C0-8420E9FC1D61}"/>
              </a:ext>
            </a:extLst>
          </p:cNvPr>
          <p:cNvSpPr txBox="1"/>
          <p:nvPr/>
        </p:nvSpPr>
        <p:spPr>
          <a:xfrm>
            <a:off x="10835640" y="4974336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dirty="0">
                <a:solidFill>
                  <a:srgbClr val="3A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why a journey is considered likely or unlikely.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476346-18D4-8819-B57D-FB33CF8272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533" b="1991"/>
          <a:stretch>
            <a:fillRect/>
          </a:stretch>
        </p:blipFill>
        <p:spPr>
          <a:xfrm>
            <a:off x="3995928" y="1144500"/>
            <a:ext cx="8112055" cy="4899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BF7B2B-34E4-1EDA-8A13-D45EAC93BC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467"/>
          <a:stretch>
            <a:fillRect/>
          </a:stretch>
        </p:blipFill>
        <p:spPr>
          <a:xfrm>
            <a:off x="231344" y="1140058"/>
            <a:ext cx="3663999" cy="50856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D946-14CF-C8C2-B748-02066255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F13634-AEA1-2548-8106-E7192775E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B87A28F8-AF49-0F4A-9D62-7FD26D16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FD66-E927-B181-74E4-6C1614E5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5D9901-72E3-BED7-C891-8729BCD89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55E3AC24-1D3D-B74D-2183-5937DB5DA55E}"/>
              </a:ext>
            </a:extLst>
          </p:cNvPr>
          <p:cNvSpPr/>
          <p:nvPr/>
        </p:nvSpPr>
        <p:spPr>
          <a:xfrm>
            <a:off x="457200" y="1234440"/>
            <a:ext cx="3611880" cy="4892040"/>
          </a:xfrm>
          <a:prstGeom prst="roundRect">
            <a:avLst>
              <a:gd name="adj" fmla="val 1519"/>
            </a:avLst>
          </a:prstGeom>
          <a:solidFill>
            <a:srgbClr val="C8AD82"/>
          </a:solidFill>
          <a:ln w="12700">
            <a:solidFill>
              <a:srgbClr val="B89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/home/claude/pptx_build2/icon_pin.png">
            <a:extLst>
              <a:ext uri="{FF2B5EF4-FFF2-40B4-BE49-F238E27FC236}">
                <a16:creationId xmlns:a16="http://schemas.microsoft.com/office/drawing/2014/main" id="{083B338A-FA40-49C1-F793-58867B211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">
            <a:off x="3685032" y="1161288"/>
            <a:ext cx="292608" cy="29260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20BD5C9-94DD-B931-B55D-5A89CD5AB017}"/>
              </a:ext>
            </a:extLst>
          </p:cNvPr>
          <p:cNvSpPr txBox="1"/>
          <p:nvPr/>
        </p:nvSpPr>
        <p:spPr>
          <a:xfrm>
            <a:off x="685800" y="14356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1600" dirty="0"/>
          </a:p>
        </p:txBody>
      </p:sp>
      <p:pic>
        <p:nvPicPr>
          <p:cNvPr id="13" name="Image 2" descr="/home/claude/pptx_build2/icon_star.png">
            <a:extLst>
              <a:ext uri="{FF2B5EF4-FFF2-40B4-BE49-F238E27FC236}">
                <a16:creationId xmlns:a16="http://schemas.microsoft.com/office/drawing/2014/main" id="{7620AFA2-B225-798F-D71C-06321B62F604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822960" y="1801368"/>
            <a:ext cx="237744" cy="237744"/>
          </a:xfrm>
          <a:prstGeom prst="rect">
            <a:avLst/>
          </a:prstGeom>
        </p:spPr>
      </p:pic>
      <p:pic>
        <p:nvPicPr>
          <p:cNvPr id="15" name="Image 3" descr="/home/claude/pptx_build2/icon_star.png">
            <a:extLst>
              <a:ext uri="{FF2B5EF4-FFF2-40B4-BE49-F238E27FC236}">
                <a16:creationId xmlns:a16="http://schemas.microsoft.com/office/drawing/2014/main" id="{1E98B6DE-AF9E-3331-8B9F-7C6D9894A183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188720" y="1801368"/>
            <a:ext cx="237744" cy="237744"/>
          </a:xfrm>
          <a:prstGeom prst="rect">
            <a:avLst/>
          </a:prstGeom>
        </p:spPr>
      </p:pic>
      <p:pic>
        <p:nvPicPr>
          <p:cNvPr id="17" name="Image 4" descr="/home/claude/pptx_build2/icon_star.png">
            <a:extLst>
              <a:ext uri="{FF2B5EF4-FFF2-40B4-BE49-F238E27FC236}">
                <a16:creationId xmlns:a16="http://schemas.microsoft.com/office/drawing/2014/main" id="{A3D694B5-0726-3BED-EBFA-0AA81279DAA7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554480" y="1801368"/>
            <a:ext cx="237744" cy="237744"/>
          </a:xfrm>
          <a:prstGeom prst="rect">
            <a:avLst/>
          </a:prstGeom>
        </p:spPr>
      </p:pic>
      <p:pic>
        <p:nvPicPr>
          <p:cNvPr id="19" name="Image 5" descr="/home/claude/pptx_build2/icon_star.png">
            <a:extLst>
              <a:ext uri="{FF2B5EF4-FFF2-40B4-BE49-F238E27FC236}">
                <a16:creationId xmlns:a16="http://schemas.microsoft.com/office/drawing/2014/main" id="{6F73F188-B7F3-8693-A086-62C8ACD56EA9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920240" y="1801368"/>
            <a:ext cx="237744" cy="237744"/>
          </a:xfrm>
          <a:prstGeom prst="rect">
            <a:avLst/>
          </a:prstGeom>
        </p:spPr>
      </p:pic>
      <p:pic>
        <p:nvPicPr>
          <p:cNvPr id="21" name="Image 6" descr="/home/claude/pptx_build2/icon_star.png">
            <a:extLst>
              <a:ext uri="{FF2B5EF4-FFF2-40B4-BE49-F238E27FC236}">
                <a16:creationId xmlns:a16="http://schemas.microsoft.com/office/drawing/2014/main" id="{AB140802-A970-2DEB-561B-2DD473E9D952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2286000" y="1801368"/>
            <a:ext cx="237744" cy="237744"/>
          </a:xfrm>
          <a:prstGeom prst="rect">
            <a:avLst/>
          </a:prstGeom>
        </p:spPr>
      </p:pic>
      <p:sp>
        <p:nvSpPr>
          <p:cNvPr id="23" name="Shape 6">
            <a:extLst>
              <a:ext uri="{FF2B5EF4-FFF2-40B4-BE49-F238E27FC236}">
                <a16:creationId xmlns:a16="http://schemas.microsoft.com/office/drawing/2014/main" id="{1F85FADA-E7A3-C8A0-AE96-0B4F581FBC4C}"/>
              </a:ext>
            </a:extLst>
          </p:cNvPr>
          <p:cNvSpPr/>
          <p:nvPr/>
        </p:nvSpPr>
        <p:spPr>
          <a:xfrm>
            <a:off x="4251960" y="1234440"/>
            <a:ext cx="3611880" cy="4892040"/>
          </a:xfrm>
          <a:prstGeom prst="roundRect">
            <a:avLst>
              <a:gd name="adj" fmla="val 1519"/>
            </a:avLst>
          </a:prstGeom>
          <a:solidFill>
            <a:srgbClr val="C8AD82"/>
          </a:solidFill>
          <a:ln w="12700">
            <a:solidFill>
              <a:srgbClr val="B89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7" descr="/home/claude/pptx_build2/icon_pin.png">
            <a:extLst>
              <a:ext uri="{FF2B5EF4-FFF2-40B4-BE49-F238E27FC236}">
                <a16:creationId xmlns:a16="http://schemas.microsoft.com/office/drawing/2014/main" id="{8CF58178-F6C4-DAC0-3358-EC9616AEC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">
            <a:off x="7479792" y="1161288"/>
            <a:ext cx="292608" cy="292608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2774937D-8CC1-77F9-EEA6-B27D3B25BC40}"/>
              </a:ext>
            </a:extLst>
          </p:cNvPr>
          <p:cNvSpPr txBox="1"/>
          <p:nvPr/>
        </p:nvSpPr>
        <p:spPr>
          <a:xfrm>
            <a:off x="4480560" y="14356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VIABILITY</a:t>
            </a:r>
            <a:endParaRPr lang="en-US" sz="1600" dirty="0"/>
          </a:p>
        </p:txBody>
      </p:sp>
      <p:pic>
        <p:nvPicPr>
          <p:cNvPr id="29" name="Image 8" descr="/home/claude/pptx_build2/icon_check.png">
            <a:extLst>
              <a:ext uri="{FF2B5EF4-FFF2-40B4-BE49-F238E27FC236}">
                <a16:creationId xmlns:a16="http://schemas.microsoft.com/office/drawing/2014/main" id="{19C8D6A1-3108-DE8E-06CA-3E96BD1828C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84164" y="1783080"/>
            <a:ext cx="347472" cy="347472"/>
          </a:xfrm>
          <a:prstGeom prst="rect">
            <a:avLst/>
          </a:prstGeom>
        </p:spPr>
      </p:pic>
      <p:sp>
        <p:nvSpPr>
          <p:cNvPr id="31" name="Shape 8">
            <a:extLst>
              <a:ext uri="{FF2B5EF4-FFF2-40B4-BE49-F238E27FC236}">
                <a16:creationId xmlns:a16="http://schemas.microsoft.com/office/drawing/2014/main" id="{446ED982-51E6-FB0E-BA50-4143C638FA67}"/>
              </a:ext>
            </a:extLst>
          </p:cNvPr>
          <p:cNvSpPr/>
          <p:nvPr/>
        </p:nvSpPr>
        <p:spPr>
          <a:xfrm>
            <a:off x="8046720" y="1234440"/>
            <a:ext cx="3611880" cy="4892040"/>
          </a:xfrm>
          <a:prstGeom prst="roundRect">
            <a:avLst>
              <a:gd name="adj" fmla="val 1519"/>
            </a:avLst>
          </a:prstGeom>
          <a:solidFill>
            <a:srgbClr val="C8AD82"/>
          </a:solidFill>
          <a:ln w="12700">
            <a:solidFill>
              <a:srgbClr val="B89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9" descr="/home/claude/pptx_build2/icon_pin.png">
            <a:extLst>
              <a:ext uri="{FF2B5EF4-FFF2-40B4-BE49-F238E27FC236}">
                <a16:creationId xmlns:a16="http://schemas.microsoft.com/office/drawing/2014/main" id="{62A1DBA2-11BD-6E16-8BCE-61B6099A68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0">
            <a:off x="11274552" y="1161288"/>
            <a:ext cx="292608" cy="292608"/>
          </a:xfrm>
          <a:prstGeom prst="rect">
            <a:avLst/>
          </a:prstGeom>
        </p:spPr>
      </p:pic>
      <p:sp>
        <p:nvSpPr>
          <p:cNvPr id="35" name="Text 9">
            <a:extLst>
              <a:ext uri="{FF2B5EF4-FFF2-40B4-BE49-F238E27FC236}">
                <a16:creationId xmlns:a16="http://schemas.microsoft.com/office/drawing/2014/main" id="{9F4E8ABA-0A2D-07FC-D172-2927C344124F}"/>
              </a:ext>
            </a:extLst>
          </p:cNvPr>
          <p:cNvSpPr txBox="1"/>
          <p:nvPr/>
        </p:nvSpPr>
        <p:spPr>
          <a:xfrm>
            <a:off x="8275320" y="14356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POTENTIAL</a:t>
            </a:r>
            <a:endParaRPr lang="en-US" sz="1600" dirty="0"/>
          </a:p>
        </p:txBody>
      </p:sp>
      <p:pic>
        <p:nvPicPr>
          <p:cNvPr id="37" name="Image 10" descr="/home/claude/pptx_build2/icon_chartline.png">
            <a:extLst>
              <a:ext uri="{FF2B5EF4-FFF2-40B4-BE49-F238E27FC236}">
                <a16:creationId xmlns:a16="http://schemas.microsoft.com/office/drawing/2014/main" id="{89D2DC9E-501D-DE21-F27A-7F3F02F3B3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8924" y="1783080"/>
            <a:ext cx="347472" cy="347472"/>
          </a:xfrm>
          <a:prstGeom prst="rect">
            <a:avLst/>
          </a:prstGeom>
        </p:spPr>
      </p:pic>
      <p:pic>
        <p:nvPicPr>
          <p:cNvPr id="39" name="Image 11" descr="/home/claude/pptx_build2/icon_recycle.png">
            <a:extLst>
              <a:ext uri="{FF2B5EF4-FFF2-40B4-BE49-F238E27FC236}">
                <a16:creationId xmlns:a16="http://schemas.microsoft.com/office/drawing/2014/main" id="{6306FB81-6BAD-32F2-BB5C-2F38B3328F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76856"/>
            <a:ext cx="237744" cy="237744"/>
          </a:xfrm>
          <a:prstGeom prst="rect">
            <a:avLst/>
          </a:prstGeom>
        </p:spPr>
      </p:pic>
      <p:sp>
        <p:nvSpPr>
          <p:cNvPr id="41" name="Text 10">
            <a:extLst>
              <a:ext uri="{FF2B5EF4-FFF2-40B4-BE49-F238E27FC236}">
                <a16:creationId xmlns:a16="http://schemas.microsoft.com/office/drawing/2014/main" id="{CCD04C2F-42CA-4DB1-4598-AFA1FEFBB65A}"/>
              </a:ext>
            </a:extLst>
          </p:cNvPr>
          <p:cNvSpPr txBox="1"/>
          <p:nvPr/>
        </p:nvSpPr>
        <p:spPr>
          <a:xfrm>
            <a:off x="1033272" y="2258568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Reusability: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existing CCTV/ANPR camera networks — no new hardware installation required.</a:t>
            </a:r>
            <a:endParaRPr lang="en-US" sz="1000" dirty="0"/>
          </a:p>
        </p:txBody>
      </p:sp>
      <p:pic>
        <p:nvPicPr>
          <p:cNvPr id="43" name="Image 12" descr="/home/claude/pptx_build2/icon_chartline.png">
            <a:extLst>
              <a:ext uri="{FF2B5EF4-FFF2-40B4-BE49-F238E27FC236}">
                <a16:creationId xmlns:a16="http://schemas.microsoft.com/office/drawing/2014/main" id="{EBCD86B5-FFAE-62BD-9FDB-82E73FFB84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044952"/>
            <a:ext cx="237744" cy="237744"/>
          </a:xfrm>
          <a:prstGeom prst="rect">
            <a:avLst/>
          </a:prstGeom>
        </p:spPr>
      </p:pic>
      <p:sp>
        <p:nvSpPr>
          <p:cNvPr id="45" name="Text 11">
            <a:extLst>
              <a:ext uri="{FF2B5EF4-FFF2-40B4-BE49-F238E27FC236}">
                <a16:creationId xmlns:a16="http://schemas.microsoft.com/office/drawing/2014/main" id="{04FB7A89-CDBD-F76B-40B0-C786C69562C1}"/>
              </a:ext>
            </a:extLst>
          </p:cNvPr>
          <p:cNvSpPr txBox="1"/>
          <p:nvPr/>
        </p:nvSpPr>
        <p:spPr>
          <a:xfrm>
            <a:off x="1033272" y="3026664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Deployment: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at a few key intersections first, then expand citywide zone-by-zone.</a:t>
            </a:r>
            <a:endParaRPr lang="en-US" sz="1000" dirty="0"/>
          </a:p>
        </p:txBody>
      </p:sp>
      <p:pic>
        <p:nvPicPr>
          <p:cNvPr id="47" name="Image 13" descr="/home/claude/pptx_build2/icon_dollar.png">
            <a:extLst>
              <a:ext uri="{FF2B5EF4-FFF2-40B4-BE49-F238E27FC236}">
                <a16:creationId xmlns:a16="http://schemas.microsoft.com/office/drawing/2014/main" id="{8F4C7F92-DDE6-CE06-C2BB-5B2D14952A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813048"/>
            <a:ext cx="237744" cy="237744"/>
          </a:xfrm>
          <a:prstGeom prst="rect">
            <a:avLst/>
          </a:prstGeom>
        </p:spPr>
      </p:pic>
      <p:sp>
        <p:nvSpPr>
          <p:cNvPr id="49" name="Text 12">
            <a:extLst>
              <a:ext uri="{FF2B5EF4-FFF2-40B4-BE49-F238E27FC236}">
                <a16:creationId xmlns:a16="http://schemas.microsoft.com/office/drawing/2014/main" id="{013DF275-B16B-216F-8CD9-7CBC9EAA5E73}"/>
              </a:ext>
            </a:extLst>
          </p:cNvPr>
          <p:cNvSpPr txBox="1"/>
          <p:nvPr/>
        </p:nvSpPr>
        <p:spPr>
          <a:xfrm>
            <a:off x="1033272" y="379476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Cost-Effectiveness: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CV stack keeps setup cost low versus proprietary ANPR systems.</a:t>
            </a:r>
            <a:endParaRPr lang="en-US" sz="1000" dirty="0"/>
          </a:p>
        </p:txBody>
      </p:sp>
      <p:pic>
        <p:nvPicPr>
          <p:cNvPr id="51" name="Image 14" descr="/home/claude/pptx_build2/icon_shield.png">
            <a:extLst>
              <a:ext uri="{FF2B5EF4-FFF2-40B4-BE49-F238E27FC236}">
                <a16:creationId xmlns:a16="http://schemas.microsoft.com/office/drawing/2014/main" id="{C5363836-1F29-5918-F372-C4112FB5BA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581144"/>
            <a:ext cx="237744" cy="237744"/>
          </a:xfrm>
          <a:prstGeom prst="rect">
            <a:avLst/>
          </a:prstGeom>
        </p:spPr>
      </p:pic>
      <p:sp>
        <p:nvSpPr>
          <p:cNvPr id="53" name="Text 13">
            <a:extLst>
              <a:ext uri="{FF2B5EF4-FFF2-40B4-BE49-F238E27FC236}">
                <a16:creationId xmlns:a16="http://schemas.microsoft.com/office/drawing/2014/main" id="{9559DFF5-26E4-E713-7F8E-25D6D0E78998}"/>
              </a:ext>
            </a:extLst>
          </p:cNvPr>
          <p:cNvSpPr txBox="1"/>
          <p:nvPr/>
        </p:nvSpPr>
        <p:spPr>
          <a:xfrm>
            <a:off x="1033272" y="4562856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Integration: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alerts, case management, and manual override for police control.</a:t>
            </a:r>
            <a:endParaRPr lang="en-US" sz="1000" dirty="0"/>
          </a:p>
        </p:txBody>
      </p:sp>
      <p:pic>
        <p:nvPicPr>
          <p:cNvPr id="55" name="Image 15" descr="/home/claude/pptx_build2/icon_search.png">
            <a:extLst>
              <a:ext uri="{FF2B5EF4-FFF2-40B4-BE49-F238E27FC236}">
                <a16:creationId xmlns:a16="http://schemas.microsoft.com/office/drawing/2014/main" id="{70936318-6B40-5DDB-A5B2-C590445CD6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5349240"/>
            <a:ext cx="237744" cy="237744"/>
          </a:xfrm>
          <a:prstGeom prst="rect">
            <a:avLst/>
          </a:prstGeom>
        </p:spPr>
      </p:pic>
      <p:sp>
        <p:nvSpPr>
          <p:cNvPr id="57" name="Text 14">
            <a:extLst>
              <a:ext uri="{FF2B5EF4-FFF2-40B4-BE49-F238E27FC236}">
                <a16:creationId xmlns:a16="http://schemas.microsoft.com/office/drawing/2014/main" id="{648380F1-9324-35AD-D307-EB21192FF2E0}"/>
              </a:ext>
            </a:extLst>
          </p:cNvPr>
          <p:cNvSpPr txBox="1"/>
          <p:nvPr/>
        </p:nvSpPr>
        <p:spPr>
          <a:xfrm>
            <a:off x="1033272" y="533095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FIR records and camera metadata plug directly into the registry and blacklist.</a:t>
            </a:r>
            <a:endParaRPr lang="en-US" sz="1000" dirty="0"/>
          </a:p>
        </p:txBody>
      </p:sp>
      <p:pic>
        <p:nvPicPr>
          <p:cNvPr id="59" name="Image 16" descr="/home/claude/pptx_build2/icon_search.png">
            <a:extLst>
              <a:ext uri="{FF2B5EF4-FFF2-40B4-BE49-F238E27FC236}">
                <a16:creationId xmlns:a16="http://schemas.microsoft.com/office/drawing/2014/main" id="{80BEED48-EA25-1E2E-EE85-CFE3BDB857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0560" y="2276856"/>
            <a:ext cx="237744" cy="237744"/>
          </a:xfrm>
          <a:prstGeom prst="rect">
            <a:avLst/>
          </a:prstGeom>
        </p:spPr>
      </p:pic>
      <p:sp>
        <p:nvSpPr>
          <p:cNvPr id="61" name="Text 15">
            <a:extLst>
              <a:ext uri="{FF2B5EF4-FFF2-40B4-BE49-F238E27FC236}">
                <a16:creationId xmlns:a16="http://schemas.microsoft.com/office/drawing/2014/main" id="{E407B8AB-9FF2-A602-3AD7-E2F3ED8C4FE2}"/>
              </a:ext>
            </a:extLst>
          </p:cNvPr>
          <p:cNvSpPr txBox="1"/>
          <p:nvPr/>
        </p:nvSpPr>
        <p:spPr>
          <a:xfrm>
            <a:off x="4828032" y="2258568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Concept: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AI traffic-surveillance systems already live in major Indian cities.</a:t>
            </a:r>
            <a:endParaRPr lang="en-US" sz="1000" dirty="0"/>
          </a:p>
        </p:txBody>
      </p:sp>
      <p:pic>
        <p:nvPicPr>
          <p:cNvPr id="63" name="Image 17" descr="/home/claude/pptx_build2/icon_handshake.png">
            <a:extLst>
              <a:ext uri="{FF2B5EF4-FFF2-40B4-BE49-F238E27FC236}">
                <a16:creationId xmlns:a16="http://schemas.microsoft.com/office/drawing/2014/main" id="{CF828B4C-7A04-CF6A-E67B-26ADD8F92D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560" y="3044952"/>
            <a:ext cx="237744" cy="237744"/>
          </a:xfrm>
          <a:prstGeom prst="rect">
            <a:avLst/>
          </a:prstGeom>
        </p:spPr>
      </p:pic>
      <p:sp>
        <p:nvSpPr>
          <p:cNvPr id="17411" name="Text 16">
            <a:extLst>
              <a:ext uri="{FF2B5EF4-FFF2-40B4-BE49-F238E27FC236}">
                <a16:creationId xmlns:a16="http://schemas.microsoft.com/office/drawing/2014/main" id="{5B408B62-1FCB-D941-C800-DFF9BF1EF330}"/>
              </a:ext>
            </a:extLst>
          </p:cNvPr>
          <p:cNvSpPr txBox="1"/>
          <p:nvPr/>
        </p:nvSpPr>
        <p:spPr>
          <a:xfrm>
            <a:off x="4828032" y="3026664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Public Trust: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timestamped detection minimizes bias and gives auditable evidence.</a:t>
            </a:r>
            <a:endParaRPr lang="en-US" sz="1000" dirty="0"/>
          </a:p>
        </p:txBody>
      </p:sp>
      <p:pic>
        <p:nvPicPr>
          <p:cNvPr id="17413" name="Image 18" descr="/home/claude/pptx_build2/icon_users.png">
            <a:extLst>
              <a:ext uri="{FF2B5EF4-FFF2-40B4-BE49-F238E27FC236}">
                <a16:creationId xmlns:a16="http://schemas.microsoft.com/office/drawing/2014/main" id="{F21B187E-6FEA-96FC-A574-9A4B9A42DF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0560" y="3813048"/>
            <a:ext cx="237744" cy="237744"/>
          </a:xfrm>
          <a:prstGeom prst="rect">
            <a:avLst/>
          </a:prstGeom>
        </p:spPr>
      </p:pic>
      <p:sp>
        <p:nvSpPr>
          <p:cNvPr id="17415" name="Text 17">
            <a:extLst>
              <a:ext uri="{FF2B5EF4-FFF2-40B4-BE49-F238E27FC236}">
                <a16:creationId xmlns:a16="http://schemas.microsoft.com/office/drawing/2014/main" id="{761C7B6B-9ABE-FDC5-D85D-581EEC0C90C8}"/>
              </a:ext>
            </a:extLst>
          </p:cNvPr>
          <p:cNvSpPr txBox="1"/>
          <p:nvPr/>
        </p:nvSpPr>
        <p:spPr>
          <a:xfrm>
            <a:off x="4828032" y="3794760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Engagement: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keep control-room operators actively in the loop.</a:t>
            </a:r>
            <a:endParaRPr lang="en-US" sz="1000" dirty="0"/>
          </a:p>
        </p:txBody>
      </p:sp>
      <p:pic>
        <p:nvPicPr>
          <p:cNvPr id="17417" name="Image 19" descr="/home/claude/pptx_build2/icon_camera.png">
            <a:extLst>
              <a:ext uri="{FF2B5EF4-FFF2-40B4-BE49-F238E27FC236}">
                <a16:creationId xmlns:a16="http://schemas.microsoft.com/office/drawing/2014/main" id="{78E53DD1-2383-CC95-624D-A1250D8270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0560" y="4581144"/>
            <a:ext cx="237744" cy="237744"/>
          </a:xfrm>
          <a:prstGeom prst="rect">
            <a:avLst/>
          </a:prstGeom>
        </p:spPr>
      </p:pic>
      <p:sp>
        <p:nvSpPr>
          <p:cNvPr id="17419" name="Text 18">
            <a:extLst>
              <a:ext uri="{FF2B5EF4-FFF2-40B4-BE49-F238E27FC236}">
                <a16:creationId xmlns:a16="http://schemas.microsoft.com/office/drawing/2014/main" id="{A06F70BC-BDBF-CB05-B5FE-D75A29EB4FD8}"/>
              </a:ext>
            </a:extLst>
          </p:cNvPr>
          <p:cNvSpPr txBox="1"/>
          <p:nvPr/>
        </p:nvSpPr>
        <p:spPr>
          <a:xfrm>
            <a:off x="4828032" y="4562856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Accountability: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detection, alert, and case action is logged and traceable.</a:t>
            </a:r>
            <a:endParaRPr lang="en-US" sz="1000" dirty="0"/>
          </a:p>
        </p:txBody>
      </p:sp>
      <p:pic>
        <p:nvPicPr>
          <p:cNvPr id="17421" name="Image 20" descr="/home/claude/pptx_build2/icon_shield.png">
            <a:extLst>
              <a:ext uri="{FF2B5EF4-FFF2-40B4-BE49-F238E27FC236}">
                <a16:creationId xmlns:a16="http://schemas.microsoft.com/office/drawing/2014/main" id="{6058AD90-1C7F-C52D-0472-A5CF577AF5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0560" y="5349240"/>
            <a:ext cx="237744" cy="237744"/>
          </a:xfrm>
          <a:prstGeom prst="rect">
            <a:avLst/>
          </a:prstGeom>
        </p:spPr>
      </p:pic>
      <p:sp>
        <p:nvSpPr>
          <p:cNvPr id="17423" name="Text 19">
            <a:extLst>
              <a:ext uri="{FF2B5EF4-FFF2-40B4-BE49-F238E27FC236}">
                <a16:creationId xmlns:a16="http://schemas.microsoft.com/office/drawing/2014/main" id="{67A25DD5-DA07-58F7-8F7D-48D278CE9E62}"/>
              </a:ext>
            </a:extLst>
          </p:cNvPr>
          <p:cNvSpPr txBox="1"/>
          <p:nvPr/>
        </p:nvSpPr>
        <p:spPr>
          <a:xfrm>
            <a:off x="4828032" y="5330952"/>
            <a:ext cx="2788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existing FIR-linked enforcement and investigation workflows, no new legislation needed.</a:t>
            </a:r>
            <a:endParaRPr lang="en-US" sz="1000" dirty="0"/>
          </a:p>
        </p:txBody>
      </p:sp>
      <p:pic>
        <p:nvPicPr>
          <p:cNvPr id="17425" name="Image 21" descr="/home/claude/pptx_build2/icon_dollar.png">
            <a:extLst>
              <a:ext uri="{FF2B5EF4-FFF2-40B4-BE49-F238E27FC236}">
                <a16:creationId xmlns:a16="http://schemas.microsoft.com/office/drawing/2014/main" id="{9F926D75-29BC-4EEB-177D-769ED54386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2276856"/>
            <a:ext cx="237744" cy="237744"/>
          </a:xfrm>
          <a:prstGeom prst="rect">
            <a:avLst/>
          </a:prstGeom>
        </p:spPr>
      </p:pic>
      <p:sp>
        <p:nvSpPr>
          <p:cNvPr id="17427" name="Text 20">
            <a:extLst>
              <a:ext uri="{FF2B5EF4-FFF2-40B4-BE49-F238E27FC236}">
                <a16:creationId xmlns:a16="http://schemas.microsoft.com/office/drawing/2014/main" id="{BB142245-004F-14BD-6DAF-92296C772000}"/>
              </a:ext>
            </a:extLst>
          </p:cNvPr>
          <p:cNvSpPr txBox="1"/>
          <p:nvPr/>
        </p:nvSpPr>
        <p:spPr>
          <a:xfrm>
            <a:off x="8622792" y="2258568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Cost Savings: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manual monitoring, cutting personnel hours and cost.</a:t>
            </a:r>
            <a:endParaRPr lang="en-US" sz="1000" dirty="0"/>
          </a:p>
        </p:txBody>
      </p:sp>
      <p:pic>
        <p:nvPicPr>
          <p:cNvPr id="17429" name="Image 22" descr="/home/claude/pptx_build2/icon_chartline.png">
            <a:extLst>
              <a:ext uri="{FF2B5EF4-FFF2-40B4-BE49-F238E27FC236}">
                <a16:creationId xmlns:a16="http://schemas.microsoft.com/office/drawing/2014/main" id="{C4A9509E-993C-835D-587C-6CED9C69B8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044952"/>
            <a:ext cx="237744" cy="237744"/>
          </a:xfrm>
          <a:prstGeom prst="rect">
            <a:avLst/>
          </a:prstGeom>
        </p:spPr>
      </p:pic>
      <p:sp>
        <p:nvSpPr>
          <p:cNvPr id="17431" name="Text 21">
            <a:extLst>
              <a:ext uri="{FF2B5EF4-FFF2-40B4-BE49-F238E27FC236}">
                <a16:creationId xmlns:a16="http://schemas.microsoft.com/office/drawing/2014/main" id="{77B485C0-67A3-64B0-E2FB-9BCD68FCCBB8}"/>
              </a:ext>
            </a:extLst>
          </p:cNvPr>
          <p:cNvSpPr txBox="1"/>
          <p:nvPr/>
        </p:nvSpPr>
        <p:spPr>
          <a:xfrm>
            <a:off x="8622792" y="302666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Generation: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output integrates with e-challan systems for automated fines.</a:t>
            </a:r>
            <a:endParaRPr lang="en-US" sz="1000" dirty="0"/>
          </a:p>
        </p:txBody>
      </p:sp>
      <p:pic>
        <p:nvPicPr>
          <p:cNvPr id="17433" name="Image 23" descr="/home/claude/pptx_build2/icon_search.png">
            <a:extLst>
              <a:ext uri="{FF2B5EF4-FFF2-40B4-BE49-F238E27FC236}">
                <a16:creationId xmlns:a16="http://schemas.microsoft.com/office/drawing/2014/main" id="{F4942AE8-AA5F-26EB-10B1-8E8DD6AECB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320" y="3813048"/>
            <a:ext cx="237744" cy="237744"/>
          </a:xfrm>
          <a:prstGeom prst="rect">
            <a:avLst/>
          </a:prstGeom>
        </p:spPr>
      </p:pic>
      <p:sp>
        <p:nvSpPr>
          <p:cNvPr id="17435" name="Text 22">
            <a:extLst>
              <a:ext uri="{FF2B5EF4-FFF2-40B4-BE49-F238E27FC236}">
                <a16:creationId xmlns:a16="http://schemas.microsoft.com/office/drawing/2014/main" id="{619A1C6B-7E46-BEAE-C62D-E53D62298C52}"/>
              </a:ext>
            </a:extLst>
          </p:cNvPr>
          <p:cNvSpPr txBox="1"/>
          <p:nvPr/>
        </p:nvSpPr>
        <p:spPr>
          <a:xfrm>
            <a:off x="8622792" y="3794760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Vehicle Recovery: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Cross-camera trajectory search cuts investigation to minutes.</a:t>
            </a:r>
            <a:endParaRPr lang="en-US" sz="1000" dirty="0"/>
          </a:p>
        </p:txBody>
      </p:sp>
      <p:pic>
        <p:nvPicPr>
          <p:cNvPr id="17437" name="Image 24" descr="/home/claude/pptx_build2/icon_recycle.png">
            <a:extLst>
              <a:ext uri="{FF2B5EF4-FFF2-40B4-BE49-F238E27FC236}">
                <a16:creationId xmlns:a16="http://schemas.microsoft.com/office/drawing/2014/main" id="{32495143-6E6E-C575-B509-FD7682877B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4581144"/>
            <a:ext cx="237744" cy="237744"/>
          </a:xfrm>
          <a:prstGeom prst="rect">
            <a:avLst/>
          </a:prstGeom>
        </p:spPr>
      </p:pic>
      <p:sp>
        <p:nvSpPr>
          <p:cNvPr id="17439" name="Text 23">
            <a:extLst>
              <a:ext uri="{FF2B5EF4-FFF2-40B4-BE49-F238E27FC236}">
                <a16:creationId xmlns:a16="http://schemas.microsoft.com/office/drawing/2014/main" id="{40A7F3F8-C2D2-DF62-5FB0-2BBEC17A8DF9}"/>
              </a:ext>
            </a:extLst>
          </p:cNvPr>
          <p:cNvSpPr txBox="1"/>
          <p:nvPr/>
        </p:nvSpPr>
        <p:spPr>
          <a:xfrm>
            <a:off x="8622792" y="4562856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Scalability: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licenses to other cities with local config only.</a:t>
            </a:r>
            <a:endParaRPr lang="en-US" sz="1000" dirty="0"/>
          </a:p>
        </p:txBody>
      </p:sp>
      <p:pic>
        <p:nvPicPr>
          <p:cNvPr id="17441" name="Image 25" descr="/home/claude/pptx_build2/icon_users.png">
            <a:extLst>
              <a:ext uri="{FF2B5EF4-FFF2-40B4-BE49-F238E27FC236}">
                <a16:creationId xmlns:a16="http://schemas.microsoft.com/office/drawing/2014/main" id="{0462061F-1CBD-2705-B7E6-6C73FDFF65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5320" y="5349240"/>
            <a:ext cx="237744" cy="237744"/>
          </a:xfrm>
          <a:prstGeom prst="rect">
            <a:avLst/>
          </a:prstGeom>
        </p:spPr>
      </p:pic>
      <p:sp>
        <p:nvSpPr>
          <p:cNvPr id="17443" name="Text 24">
            <a:extLst>
              <a:ext uri="{FF2B5EF4-FFF2-40B4-BE49-F238E27FC236}">
                <a16:creationId xmlns:a16="http://schemas.microsoft.com/office/drawing/2014/main" id="{C6EFF9B3-2A32-96FF-66AD-36A2CC6BA299}"/>
              </a:ext>
            </a:extLst>
          </p:cNvPr>
          <p:cNvSpPr txBox="1"/>
          <p:nvPr/>
        </p:nvSpPr>
        <p:spPr>
          <a:xfrm>
            <a:off x="8622792" y="533095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u="sng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as a Product: 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data supports signal timing and infra planning.</a:t>
            </a:r>
            <a:endParaRPr lang="en-US" sz="1000" dirty="0"/>
          </a:p>
        </p:txBody>
      </p:sp>
      <p:pic>
        <p:nvPicPr>
          <p:cNvPr id="17445" name="Image 26" descr="/home/claude/pptx_build2/icon_bus.png">
            <a:extLst>
              <a:ext uri="{FF2B5EF4-FFF2-40B4-BE49-F238E27FC236}">
                <a16:creationId xmlns:a16="http://schemas.microsoft.com/office/drawing/2014/main" id="{3FF93A75-DD57-FF0F-B110-CD7BA6B5981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81360" y="3337560"/>
            <a:ext cx="640080" cy="475488"/>
          </a:xfrm>
          <a:prstGeom prst="rect">
            <a:avLst/>
          </a:prstGeom>
        </p:spPr>
      </p:pic>
      <p:pic>
        <p:nvPicPr>
          <p:cNvPr id="17447" name="Image 27" descr="/home/claude/pptx_build2/icon_car.png">
            <a:extLst>
              <a:ext uri="{FF2B5EF4-FFF2-40B4-BE49-F238E27FC236}">
                <a16:creationId xmlns:a16="http://schemas.microsoft.com/office/drawing/2014/main" id="{2EC73D67-A1F8-9EE0-06EA-4B638E6C5C2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91088" y="3749040"/>
            <a:ext cx="475488" cy="347472"/>
          </a:xfrm>
          <a:prstGeom prst="rect">
            <a:avLst/>
          </a:prstGeom>
        </p:spPr>
      </p:pic>
      <p:pic>
        <p:nvPicPr>
          <p:cNvPr id="17449" name="Image 28" descr="/home/claude/pptx_build2/icon_camera.png">
            <a:extLst>
              <a:ext uri="{FF2B5EF4-FFF2-40B4-BE49-F238E27FC236}">
                <a16:creationId xmlns:a16="http://schemas.microsoft.com/office/drawing/2014/main" id="{264B7FB2-C1C3-458E-3621-47A77DD44E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72800" y="4526280"/>
            <a:ext cx="411480" cy="411480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F2CB52F8-F629-3114-448D-51171EA79A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425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EFA2D1-1D5A-3E38-1732-4103E5171120}"/>
              </a:ext>
            </a:extLst>
          </p:cNvPr>
          <p:cNvSpPr/>
          <p:nvPr/>
        </p:nvSpPr>
        <p:spPr>
          <a:xfrm>
            <a:off x="4223529" y="1093827"/>
            <a:ext cx="3320271" cy="25271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11D3A2-88ED-CC11-3086-830DE21F61C2}"/>
              </a:ext>
            </a:extLst>
          </p:cNvPr>
          <p:cNvSpPr txBox="1"/>
          <p:nvPr/>
        </p:nvSpPr>
        <p:spPr>
          <a:xfrm>
            <a:off x="4587155" y="1204998"/>
            <a:ext cx="277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Impact on Target Audience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4927D-3348-12A8-8C6B-560C4552D504}"/>
              </a:ext>
            </a:extLst>
          </p:cNvPr>
          <p:cNvSpPr txBox="1"/>
          <p:nvPr/>
        </p:nvSpPr>
        <p:spPr>
          <a:xfrm>
            <a:off x="4409133" y="1574330"/>
            <a:ext cx="29490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Traffic Authorities:</a:t>
            </a:r>
            <a:r>
              <a:rPr lang="en-US" sz="1200" dirty="0"/>
              <a:t> Real-time congestion and incident monitoring.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Commuters:</a:t>
            </a:r>
            <a:r>
              <a:rPr lang="en-US" sz="1200" dirty="0"/>
              <a:t> Reduced travel time and better route decisions.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Emergency Services:</a:t>
            </a:r>
            <a:r>
              <a:rPr lang="en-US" sz="1200" dirty="0"/>
              <a:t> Faster detection and response to incidents.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Urban Planners:</a:t>
            </a:r>
            <a:r>
              <a:rPr lang="en-US" sz="1200" dirty="0"/>
              <a:t> Data-driven traffic and infrastructure planning.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Smart-City Administrators:</a:t>
            </a:r>
            <a:r>
              <a:rPr lang="en-US" sz="1200" dirty="0"/>
              <a:t> City-wide traffic visibility from existing CCTV.</a:t>
            </a:r>
          </a:p>
          <a:p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30EFD6-FDA6-EF27-E1E2-E11E16B070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451" b="18800"/>
          <a:stretch>
            <a:fillRect/>
          </a:stretch>
        </p:blipFill>
        <p:spPr>
          <a:xfrm>
            <a:off x="7626096" y="1083580"/>
            <a:ext cx="4456175" cy="52059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19690D-3582-4228-CB9F-BBD8AFA15E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602"/>
          <a:stretch>
            <a:fillRect/>
          </a:stretch>
        </p:blipFill>
        <p:spPr>
          <a:xfrm>
            <a:off x="9262" y="1943662"/>
            <a:ext cx="5874402" cy="4780432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6C1BFBFA-63E1-2BF3-2881-9AD4A4FDD0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8">
            <a:extLst>
              <a:ext uri="{FF2B5EF4-FFF2-40B4-BE49-F238E27FC236}">
                <a16:creationId xmlns:a16="http://schemas.microsoft.com/office/drawing/2014/main" id="{0C5A7700-6CF6-5B47-A17F-93BEE8B49DEB}"/>
              </a:ext>
            </a:extLst>
          </p:cNvPr>
          <p:cNvSpPr txBox="1"/>
          <p:nvPr/>
        </p:nvSpPr>
        <p:spPr>
          <a:xfrm>
            <a:off x="1828194" y="122166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5" name="Oval 34" descr="Your startup LOGO">
            <a:extLst>
              <a:ext uri="{FF2B5EF4-FFF2-40B4-BE49-F238E27FC236}">
                <a16:creationId xmlns:a16="http://schemas.microsoft.com/office/drawing/2014/main" id="{7EC041D6-4076-62B7-8616-ABEA9AC2E6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Neura</a:t>
            </a:r>
          </a:p>
          <a:p>
            <a:pPr algn="ctr"/>
            <a:r>
              <a:rPr lang="en-US" dirty="0"/>
              <a:t>Track</a:t>
            </a:r>
            <a:endParaRPr lang="en-IN" dirty="0"/>
          </a:p>
        </p:txBody>
      </p:sp>
      <p:sp>
        <p:nvSpPr>
          <p:cNvPr id="17585" name="TextBox 17584">
            <a:extLst>
              <a:ext uri="{FF2B5EF4-FFF2-40B4-BE49-F238E27FC236}">
                <a16:creationId xmlns:a16="http://schemas.microsoft.com/office/drawing/2014/main" id="{ED8E18B9-60E4-B11A-93FE-C2E31A8A97E2}"/>
              </a:ext>
            </a:extLst>
          </p:cNvPr>
          <p:cNvSpPr txBox="1"/>
          <p:nvPr/>
        </p:nvSpPr>
        <p:spPr>
          <a:xfrm>
            <a:off x="448056" y="1069849"/>
            <a:ext cx="3401568" cy="3170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700" b="1" dirty="0">
                <a:solidFill>
                  <a:srgbClr val="0D345B"/>
                </a:solidFill>
                <a:latin typeface="Arial"/>
              </a:rPr>
              <a:t>1  RESEARCH BASE</a:t>
            </a:r>
          </a:p>
        </p:txBody>
      </p:sp>
      <p:sp>
        <p:nvSpPr>
          <p:cNvPr id="17587" name="TextBox 17586">
            <a:extLst>
              <a:ext uri="{FF2B5EF4-FFF2-40B4-BE49-F238E27FC236}">
                <a16:creationId xmlns:a16="http://schemas.microsoft.com/office/drawing/2014/main" id="{F6DBF6E9-6AD4-A9DF-B767-2BF0929420DB}"/>
              </a:ext>
            </a:extLst>
          </p:cNvPr>
          <p:cNvSpPr txBox="1"/>
          <p:nvPr/>
        </p:nvSpPr>
        <p:spPr>
          <a:xfrm>
            <a:off x="6062472" y="914400"/>
            <a:ext cx="480060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0D345B"/>
                </a:solidFill>
                <a:latin typeface="Arial"/>
              </a:rPr>
              <a:t>2  TRACE-X RESEARCH EXTENSION</a:t>
            </a:r>
          </a:p>
        </p:txBody>
      </p:sp>
      <p:sp>
        <p:nvSpPr>
          <p:cNvPr id="17589" name="Rounded Rectangle 8">
            <a:extLst>
              <a:ext uri="{FF2B5EF4-FFF2-40B4-BE49-F238E27FC236}">
                <a16:creationId xmlns:a16="http://schemas.microsoft.com/office/drawing/2014/main" id="{CE8223C8-9895-EF2C-82CE-EEECF1328773}"/>
              </a:ext>
            </a:extLst>
          </p:cNvPr>
          <p:cNvSpPr/>
          <p:nvPr/>
        </p:nvSpPr>
        <p:spPr>
          <a:xfrm>
            <a:off x="301752" y="1380744"/>
            <a:ext cx="5321808" cy="731520"/>
          </a:xfrm>
          <a:prstGeom prst="roundRect">
            <a:avLst/>
          </a:prstGeom>
          <a:solidFill>
            <a:srgbClr val="E8F4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1" name="Rectangle 17590">
            <a:extLst>
              <a:ext uri="{FF2B5EF4-FFF2-40B4-BE49-F238E27FC236}">
                <a16:creationId xmlns:a16="http://schemas.microsoft.com/office/drawing/2014/main" id="{EA2FC673-31B1-F0FF-980C-2F3582CBAD0A}"/>
              </a:ext>
            </a:extLst>
          </p:cNvPr>
          <p:cNvSpPr/>
          <p:nvPr/>
        </p:nvSpPr>
        <p:spPr>
          <a:xfrm>
            <a:off x="310896" y="1362456"/>
            <a:ext cx="73152" cy="731520"/>
          </a:xfrm>
          <a:prstGeom prst="rect">
            <a:avLst/>
          </a:prstGeom>
          <a:solidFill>
            <a:srgbClr val="CF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3" name="TextBox 17592">
            <a:extLst>
              <a:ext uri="{FF2B5EF4-FFF2-40B4-BE49-F238E27FC236}">
                <a16:creationId xmlns:a16="http://schemas.microsoft.com/office/drawing/2014/main" id="{6AD331CB-967F-63CC-9FFE-DDCCFD8F023B}"/>
              </a:ext>
            </a:extLst>
          </p:cNvPr>
          <p:cNvSpPr txBox="1"/>
          <p:nvPr/>
        </p:nvSpPr>
        <p:spPr>
          <a:xfrm>
            <a:off x="493776" y="1335024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 b="1">
                <a:solidFill>
                  <a:srgbClr val="0D345B"/>
                </a:solidFill>
                <a:latin typeface="Arial"/>
                <a:hlinkClick r:id="rId4"/>
              </a:rPr>
              <a:t>Indian ANPR • 2022</a:t>
            </a:r>
          </a:p>
        </p:txBody>
      </p:sp>
      <p:sp>
        <p:nvSpPr>
          <p:cNvPr id="17595" name="TextBox 17594">
            <a:extLst>
              <a:ext uri="{FF2B5EF4-FFF2-40B4-BE49-F238E27FC236}">
                <a16:creationId xmlns:a16="http://schemas.microsoft.com/office/drawing/2014/main" id="{FF94942C-E354-CE50-C40A-34493B07DF52}"/>
              </a:ext>
            </a:extLst>
          </p:cNvPr>
          <p:cNvSpPr txBox="1"/>
          <p:nvPr/>
        </p:nvSpPr>
        <p:spPr>
          <a:xfrm>
            <a:off x="493776" y="1572768"/>
            <a:ext cx="48920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40" b="0">
                <a:solidFill>
                  <a:srgbClr val="5F5F5F"/>
                </a:solidFill>
                <a:latin typeface="Arial"/>
              </a:rPr>
              <a:t>Indian plate diversity makes direct transfer from non-Indian datasets difficult.</a:t>
            </a:r>
          </a:p>
        </p:txBody>
      </p:sp>
      <p:sp>
        <p:nvSpPr>
          <p:cNvPr id="17597" name="Rounded Rectangle 12">
            <a:extLst>
              <a:ext uri="{FF2B5EF4-FFF2-40B4-BE49-F238E27FC236}">
                <a16:creationId xmlns:a16="http://schemas.microsoft.com/office/drawing/2014/main" id="{5A31EDB5-9FE6-4E49-5FBD-D0760FEE6CDF}"/>
              </a:ext>
            </a:extLst>
          </p:cNvPr>
          <p:cNvSpPr/>
          <p:nvPr/>
        </p:nvSpPr>
        <p:spPr>
          <a:xfrm>
            <a:off x="329184" y="2130552"/>
            <a:ext cx="5321808" cy="731520"/>
          </a:xfrm>
          <a:prstGeom prst="roundRect">
            <a:avLst/>
          </a:prstGeom>
          <a:solidFill>
            <a:srgbClr val="E8F4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9" name="Rectangle 17598">
            <a:extLst>
              <a:ext uri="{FF2B5EF4-FFF2-40B4-BE49-F238E27FC236}">
                <a16:creationId xmlns:a16="http://schemas.microsoft.com/office/drawing/2014/main" id="{C17D38BB-4299-E5AD-7EFD-09BBBE1BE8D0}"/>
              </a:ext>
            </a:extLst>
          </p:cNvPr>
          <p:cNvSpPr/>
          <p:nvPr/>
        </p:nvSpPr>
        <p:spPr>
          <a:xfrm>
            <a:off x="329184" y="2130552"/>
            <a:ext cx="73152" cy="731520"/>
          </a:xfrm>
          <a:prstGeom prst="rect">
            <a:avLst/>
          </a:prstGeom>
          <a:solidFill>
            <a:srgbClr val="1A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1" name="TextBox 17600">
            <a:extLst>
              <a:ext uri="{FF2B5EF4-FFF2-40B4-BE49-F238E27FC236}">
                <a16:creationId xmlns:a16="http://schemas.microsoft.com/office/drawing/2014/main" id="{06819E9B-03C3-8EB7-6A9C-C7384FB2A3A5}"/>
              </a:ext>
            </a:extLst>
          </p:cNvPr>
          <p:cNvSpPr txBox="1"/>
          <p:nvPr/>
        </p:nvSpPr>
        <p:spPr>
          <a:xfrm>
            <a:off x="493776" y="2167128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 b="1">
                <a:solidFill>
                  <a:srgbClr val="0D345B"/>
                </a:solidFill>
                <a:latin typeface="Arial"/>
                <a:hlinkClick r:id="rId5"/>
              </a:rPr>
              <a:t>Multi-Camera Tracking • 2019</a:t>
            </a:r>
          </a:p>
        </p:txBody>
      </p:sp>
      <p:sp>
        <p:nvSpPr>
          <p:cNvPr id="17603" name="TextBox 17602">
            <a:extLst>
              <a:ext uri="{FF2B5EF4-FFF2-40B4-BE49-F238E27FC236}">
                <a16:creationId xmlns:a16="http://schemas.microsoft.com/office/drawing/2014/main" id="{7D1E5AB8-1E55-273C-C08E-76751E18D7FD}"/>
              </a:ext>
            </a:extLst>
          </p:cNvPr>
          <p:cNvSpPr txBox="1"/>
          <p:nvPr/>
        </p:nvSpPr>
        <p:spPr>
          <a:xfrm>
            <a:off x="493776" y="2404872"/>
            <a:ext cx="48920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40" b="0">
                <a:solidFill>
                  <a:srgbClr val="5F5F5F"/>
                </a:solidFill>
                <a:latin typeface="Arial"/>
              </a:rPr>
              <a:t>Visual + orientation + spatial-temporal cues improve vehicle tracking across cameras.</a:t>
            </a:r>
          </a:p>
        </p:txBody>
      </p:sp>
      <p:sp>
        <p:nvSpPr>
          <p:cNvPr id="17605" name="Rounded Rectangle 16">
            <a:extLst>
              <a:ext uri="{FF2B5EF4-FFF2-40B4-BE49-F238E27FC236}">
                <a16:creationId xmlns:a16="http://schemas.microsoft.com/office/drawing/2014/main" id="{285F1E0C-1ECE-8350-B077-57466801E159}"/>
              </a:ext>
            </a:extLst>
          </p:cNvPr>
          <p:cNvSpPr/>
          <p:nvPr/>
        </p:nvSpPr>
        <p:spPr>
          <a:xfrm>
            <a:off x="329184" y="2962656"/>
            <a:ext cx="5321808" cy="731520"/>
          </a:xfrm>
          <a:prstGeom prst="roundRect">
            <a:avLst/>
          </a:prstGeom>
          <a:solidFill>
            <a:srgbClr val="E8F4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607" name="Rectangle 17606">
            <a:extLst>
              <a:ext uri="{FF2B5EF4-FFF2-40B4-BE49-F238E27FC236}">
                <a16:creationId xmlns:a16="http://schemas.microsoft.com/office/drawing/2014/main" id="{8C268A6C-D510-0938-A819-FDD3AE51BB61}"/>
              </a:ext>
            </a:extLst>
          </p:cNvPr>
          <p:cNvSpPr/>
          <p:nvPr/>
        </p:nvSpPr>
        <p:spPr>
          <a:xfrm>
            <a:off x="329184" y="2962656"/>
            <a:ext cx="73152" cy="731520"/>
          </a:xfrm>
          <a:prstGeom prst="rect">
            <a:avLst/>
          </a:prstGeom>
          <a:solidFill>
            <a:srgbClr val="268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09" name="TextBox 17608">
            <a:extLst>
              <a:ext uri="{FF2B5EF4-FFF2-40B4-BE49-F238E27FC236}">
                <a16:creationId xmlns:a16="http://schemas.microsoft.com/office/drawing/2014/main" id="{E7480ACA-43F3-377F-42FB-A050F5430A54}"/>
              </a:ext>
            </a:extLst>
          </p:cNvPr>
          <p:cNvSpPr txBox="1"/>
          <p:nvPr/>
        </p:nvSpPr>
        <p:spPr>
          <a:xfrm>
            <a:off x="493776" y="2999232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30" b="1">
                <a:solidFill>
                  <a:srgbClr val="0D345B"/>
                </a:solidFill>
                <a:latin typeface="Arial"/>
                <a:hlinkClick r:id="rId6"/>
              </a:rPr>
              <a:t>City-Scale MCT • 2021</a:t>
            </a:r>
          </a:p>
        </p:txBody>
      </p:sp>
      <p:sp>
        <p:nvSpPr>
          <p:cNvPr id="17611" name="TextBox 17610">
            <a:extLst>
              <a:ext uri="{FF2B5EF4-FFF2-40B4-BE49-F238E27FC236}">
                <a16:creationId xmlns:a16="http://schemas.microsoft.com/office/drawing/2014/main" id="{ADA04238-2C08-525A-7AA5-CA28CBCF4890}"/>
              </a:ext>
            </a:extLst>
          </p:cNvPr>
          <p:cNvSpPr txBox="1"/>
          <p:nvPr/>
        </p:nvSpPr>
        <p:spPr>
          <a:xfrm>
            <a:off x="493776" y="3236976"/>
            <a:ext cx="48920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40" b="0">
                <a:solidFill>
                  <a:srgbClr val="5F5F5F"/>
                </a:solidFill>
                <a:latin typeface="Arial"/>
              </a:rPr>
              <a:t>Re-ID + track matching + spatial-temporal information support city-scale traffic management.</a:t>
            </a:r>
          </a:p>
        </p:txBody>
      </p:sp>
      <p:sp>
        <p:nvSpPr>
          <p:cNvPr id="17613" name="Rounded Rectangle 20">
            <a:extLst>
              <a:ext uri="{FF2B5EF4-FFF2-40B4-BE49-F238E27FC236}">
                <a16:creationId xmlns:a16="http://schemas.microsoft.com/office/drawing/2014/main" id="{C6B4E7F1-ABA7-D9BE-7977-32D357A63232}"/>
              </a:ext>
            </a:extLst>
          </p:cNvPr>
          <p:cNvSpPr/>
          <p:nvPr/>
        </p:nvSpPr>
        <p:spPr>
          <a:xfrm>
            <a:off x="329184" y="3794760"/>
            <a:ext cx="5321808" cy="731520"/>
          </a:xfrm>
          <a:prstGeom prst="roundRect">
            <a:avLst/>
          </a:prstGeom>
          <a:solidFill>
            <a:srgbClr val="E8F4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15" name="Rectangle 17614">
            <a:extLst>
              <a:ext uri="{FF2B5EF4-FFF2-40B4-BE49-F238E27FC236}">
                <a16:creationId xmlns:a16="http://schemas.microsoft.com/office/drawing/2014/main" id="{6E8BD457-E13C-34FF-721C-03F8015F9A80}"/>
              </a:ext>
            </a:extLst>
          </p:cNvPr>
          <p:cNvSpPr/>
          <p:nvPr/>
        </p:nvSpPr>
        <p:spPr>
          <a:xfrm>
            <a:off x="329184" y="3794760"/>
            <a:ext cx="73152" cy="731520"/>
          </a:xfrm>
          <a:prstGeom prst="rect">
            <a:avLst/>
          </a:prstGeom>
          <a:solidFill>
            <a:srgbClr val="B9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17" name="TextBox 17616">
            <a:extLst>
              <a:ext uri="{FF2B5EF4-FFF2-40B4-BE49-F238E27FC236}">
                <a16:creationId xmlns:a16="http://schemas.microsoft.com/office/drawing/2014/main" id="{902C1589-FE2B-749A-6649-B0A9B05BBC6B}"/>
              </a:ext>
            </a:extLst>
          </p:cNvPr>
          <p:cNvSpPr txBox="1"/>
          <p:nvPr/>
        </p:nvSpPr>
        <p:spPr>
          <a:xfrm>
            <a:off x="493776" y="3831336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130" b="1" dirty="0">
                <a:solidFill>
                  <a:srgbClr val="0D345B"/>
                </a:solidFill>
                <a:latin typeface="Arial"/>
                <a:hlinkClick r:id="rId7"/>
              </a:rPr>
              <a:t>Intelligent Camera Selection • 2022</a:t>
            </a:r>
            <a:endParaRPr sz="1130" b="1" dirty="0">
              <a:solidFill>
                <a:srgbClr val="0D345B"/>
              </a:solidFill>
              <a:latin typeface="Arial"/>
              <a:hlinkClick r:id="rId7"/>
            </a:endParaRPr>
          </a:p>
        </p:txBody>
      </p:sp>
      <p:sp>
        <p:nvSpPr>
          <p:cNvPr id="17619" name="TextBox 17618">
            <a:extLst>
              <a:ext uri="{FF2B5EF4-FFF2-40B4-BE49-F238E27FC236}">
                <a16:creationId xmlns:a16="http://schemas.microsoft.com/office/drawing/2014/main" id="{8CDE5A22-786B-51C7-BC9B-C975F69CFF6F}"/>
              </a:ext>
            </a:extLst>
          </p:cNvPr>
          <p:cNvSpPr txBox="1"/>
          <p:nvPr/>
        </p:nvSpPr>
        <p:spPr>
          <a:xfrm>
            <a:off x="493776" y="4069080"/>
            <a:ext cx="48920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40" b="0">
                <a:solidFill>
                  <a:srgbClr val="5F5F5F"/>
                </a:solidFill>
                <a:latin typeface="Arial"/>
              </a:rPr>
              <a:t>Camera-selection policies can reduce unnecessary Re-ID queries and computation.</a:t>
            </a:r>
          </a:p>
        </p:txBody>
      </p:sp>
      <p:sp>
        <p:nvSpPr>
          <p:cNvPr id="17621" name="Rounded Rectangle 24">
            <a:extLst>
              <a:ext uri="{FF2B5EF4-FFF2-40B4-BE49-F238E27FC236}">
                <a16:creationId xmlns:a16="http://schemas.microsoft.com/office/drawing/2014/main" id="{7D5CE0C6-FB99-0F2E-F837-B9AB5121FCF1}"/>
              </a:ext>
            </a:extLst>
          </p:cNvPr>
          <p:cNvSpPr/>
          <p:nvPr/>
        </p:nvSpPr>
        <p:spPr>
          <a:xfrm>
            <a:off x="6062472" y="1298448"/>
            <a:ext cx="4828032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23" name="Oval 17622">
            <a:extLst>
              <a:ext uri="{FF2B5EF4-FFF2-40B4-BE49-F238E27FC236}">
                <a16:creationId xmlns:a16="http://schemas.microsoft.com/office/drawing/2014/main" id="{9532EFB2-C5BE-0C57-B6FE-A1B8A1C964E2}"/>
              </a:ext>
            </a:extLst>
          </p:cNvPr>
          <p:cNvSpPr/>
          <p:nvPr/>
        </p:nvSpPr>
        <p:spPr>
          <a:xfrm>
            <a:off x="6199632" y="1417320"/>
            <a:ext cx="384048" cy="384048"/>
          </a:xfrm>
          <a:prstGeom prst="ellipse">
            <a:avLst/>
          </a:prstGeom>
          <a:solidFill>
            <a:srgbClr val="1A6FBE"/>
          </a:solidFill>
          <a:ln>
            <a:solidFill>
              <a:srgbClr val="1A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25" name="TextBox 17624">
            <a:extLst>
              <a:ext uri="{FF2B5EF4-FFF2-40B4-BE49-F238E27FC236}">
                <a16:creationId xmlns:a16="http://schemas.microsoft.com/office/drawing/2014/main" id="{B119724D-618F-4162-D888-4D401E4C92BC}"/>
              </a:ext>
            </a:extLst>
          </p:cNvPr>
          <p:cNvSpPr txBox="1"/>
          <p:nvPr/>
        </p:nvSpPr>
        <p:spPr>
          <a:xfrm>
            <a:off x="6199632" y="1417320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627" name="TextBox 17626">
            <a:extLst>
              <a:ext uri="{FF2B5EF4-FFF2-40B4-BE49-F238E27FC236}">
                <a16:creationId xmlns:a16="http://schemas.microsoft.com/office/drawing/2014/main" id="{72622790-4B89-8B86-9D9D-B9F5805D067F}"/>
              </a:ext>
            </a:extLst>
          </p:cNvPr>
          <p:cNvSpPr txBox="1"/>
          <p:nvPr/>
        </p:nvSpPr>
        <p:spPr>
          <a:xfrm>
            <a:off x="6675120" y="1353312"/>
            <a:ext cx="3977639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D345B"/>
                </a:solidFill>
                <a:latin typeface="Arial"/>
              </a:rPr>
              <a:t>A. Confidence-aware evidence</a:t>
            </a:r>
          </a:p>
        </p:txBody>
      </p:sp>
      <p:sp>
        <p:nvSpPr>
          <p:cNvPr id="17629" name="TextBox 17628">
            <a:extLst>
              <a:ext uri="{FF2B5EF4-FFF2-40B4-BE49-F238E27FC236}">
                <a16:creationId xmlns:a16="http://schemas.microsoft.com/office/drawing/2014/main" id="{42BFEB52-7F3E-8411-84E2-61FDD1205447}"/>
              </a:ext>
            </a:extLst>
          </p:cNvPr>
          <p:cNvSpPr txBox="1"/>
          <p:nvPr/>
        </p:nvSpPr>
        <p:spPr>
          <a:xfrm>
            <a:off x="6675120" y="1591056"/>
            <a:ext cx="393192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30" b="0">
                <a:solidFill>
                  <a:srgbClr val="5F5F5F"/>
                </a:solidFill>
                <a:latin typeface="Arial"/>
              </a:rPr>
              <a:t>Every observation carries OCR, image-quality and camera-health confidence.</a:t>
            </a:r>
          </a:p>
        </p:txBody>
      </p:sp>
      <p:sp>
        <p:nvSpPr>
          <p:cNvPr id="17631" name="Rounded Rectangle 29">
            <a:extLst>
              <a:ext uri="{FF2B5EF4-FFF2-40B4-BE49-F238E27FC236}">
                <a16:creationId xmlns:a16="http://schemas.microsoft.com/office/drawing/2014/main" id="{32D048D8-67E7-7988-DFCE-D15C49DBECDE}"/>
              </a:ext>
            </a:extLst>
          </p:cNvPr>
          <p:cNvSpPr/>
          <p:nvPr/>
        </p:nvSpPr>
        <p:spPr>
          <a:xfrm>
            <a:off x="6062472" y="2130552"/>
            <a:ext cx="4828032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33" name="Oval 17632">
            <a:extLst>
              <a:ext uri="{FF2B5EF4-FFF2-40B4-BE49-F238E27FC236}">
                <a16:creationId xmlns:a16="http://schemas.microsoft.com/office/drawing/2014/main" id="{10FAF60A-E70B-2F46-A211-106D13FBC74B}"/>
              </a:ext>
            </a:extLst>
          </p:cNvPr>
          <p:cNvSpPr/>
          <p:nvPr/>
        </p:nvSpPr>
        <p:spPr>
          <a:xfrm>
            <a:off x="6199632" y="2249424"/>
            <a:ext cx="384048" cy="384048"/>
          </a:xfrm>
          <a:prstGeom prst="ellipse">
            <a:avLst/>
          </a:prstGeom>
          <a:solidFill>
            <a:srgbClr val="26825D"/>
          </a:solidFill>
          <a:ln>
            <a:solidFill>
              <a:srgbClr val="2682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35" name="TextBox 17634">
            <a:extLst>
              <a:ext uri="{FF2B5EF4-FFF2-40B4-BE49-F238E27FC236}">
                <a16:creationId xmlns:a16="http://schemas.microsoft.com/office/drawing/2014/main" id="{7CA0F124-C761-FF81-AAE7-E33B7047A708}"/>
              </a:ext>
            </a:extLst>
          </p:cNvPr>
          <p:cNvSpPr txBox="1"/>
          <p:nvPr/>
        </p:nvSpPr>
        <p:spPr>
          <a:xfrm>
            <a:off x="6199632" y="2249424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637" name="TextBox 17636">
            <a:extLst>
              <a:ext uri="{FF2B5EF4-FFF2-40B4-BE49-F238E27FC236}">
                <a16:creationId xmlns:a16="http://schemas.microsoft.com/office/drawing/2014/main" id="{8F896C4E-3AE9-2504-1E12-0D032617B5E3}"/>
              </a:ext>
            </a:extLst>
          </p:cNvPr>
          <p:cNvSpPr txBox="1"/>
          <p:nvPr/>
        </p:nvSpPr>
        <p:spPr>
          <a:xfrm>
            <a:off x="6675120" y="2185416"/>
            <a:ext cx="3977639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D345B"/>
                </a:solidFill>
                <a:latin typeface="Arial"/>
              </a:rPr>
              <a:t>B. Multi-hypothesis journey</a:t>
            </a:r>
          </a:p>
        </p:txBody>
      </p:sp>
      <p:sp>
        <p:nvSpPr>
          <p:cNvPr id="17639" name="TextBox 17638">
            <a:extLst>
              <a:ext uri="{FF2B5EF4-FFF2-40B4-BE49-F238E27FC236}">
                <a16:creationId xmlns:a16="http://schemas.microsoft.com/office/drawing/2014/main" id="{9C9C8A11-4995-0EC6-9628-11936F5E49BB}"/>
              </a:ext>
            </a:extLst>
          </p:cNvPr>
          <p:cNvSpPr txBox="1"/>
          <p:nvPr/>
        </p:nvSpPr>
        <p:spPr>
          <a:xfrm>
            <a:off x="6675120" y="2423160"/>
            <a:ext cx="393192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30" b="0">
                <a:solidFill>
                  <a:srgbClr val="5F5F5F"/>
                </a:solidFill>
                <a:latin typeface="Arial"/>
              </a:rPr>
              <a:t>Keep competing routes instead of forcing one vehicle path when evidence is ambiguous.</a:t>
            </a:r>
          </a:p>
        </p:txBody>
      </p:sp>
      <p:sp>
        <p:nvSpPr>
          <p:cNvPr id="17641" name="Rounded Rectangle 34">
            <a:extLst>
              <a:ext uri="{FF2B5EF4-FFF2-40B4-BE49-F238E27FC236}">
                <a16:creationId xmlns:a16="http://schemas.microsoft.com/office/drawing/2014/main" id="{E518C678-324E-1850-F190-56DDD68F19D6}"/>
              </a:ext>
            </a:extLst>
          </p:cNvPr>
          <p:cNvSpPr/>
          <p:nvPr/>
        </p:nvSpPr>
        <p:spPr>
          <a:xfrm>
            <a:off x="6062472" y="2962656"/>
            <a:ext cx="4828032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43" name="Oval 17642">
            <a:extLst>
              <a:ext uri="{FF2B5EF4-FFF2-40B4-BE49-F238E27FC236}">
                <a16:creationId xmlns:a16="http://schemas.microsoft.com/office/drawing/2014/main" id="{B73E5F79-2168-3D62-C75D-8CEB307159B8}"/>
              </a:ext>
            </a:extLst>
          </p:cNvPr>
          <p:cNvSpPr/>
          <p:nvPr/>
        </p:nvSpPr>
        <p:spPr>
          <a:xfrm>
            <a:off x="6199632" y="3081528"/>
            <a:ext cx="384048" cy="384048"/>
          </a:xfrm>
          <a:prstGeom prst="ellipse">
            <a:avLst/>
          </a:prstGeom>
          <a:solidFill>
            <a:srgbClr val="B94040"/>
          </a:solidFill>
          <a:ln>
            <a:solidFill>
              <a:srgbClr val="B9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45" name="TextBox 17644">
            <a:extLst>
              <a:ext uri="{FF2B5EF4-FFF2-40B4-BE49-F238E27FC236}">
                <a16:creationId xmlns:a16="http://schemas.microsoft.com/office/drawing/2014/main" id="{5469EDCB-2F35-52EF-4C8A-ECAAA2FB0366}"/>
              </a:ext>
            </a:extLst>
          </p:cNvPr>
          <p:cNvSpPr txBox="1"/>
          <p:nvPr/>
        </p:nvSpPr>
        <p:spPr>
          <a:xfrm>
            <a:off x="6199632" y="3081528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647" name="TextBox 17646">
            <a:extLst>
              <a:ext uri="{FF2B5EF4-FFF2-40B4-BE49-F238E27FC236}">
                <a16:creationId xmlns:a16="http://schemas.microsoft.com/office/drawing/2014/main" id="{8EE2066A-F2B1-DC02-FD2F-39561BC6860F}"/>
              </a:ext>
            </a:extLst>
          </p:cNvPr>
          <p:cNvSpPr txBox="1"/>
          <p:nvPr/>
        </p:nvSpPr>
        <p:spPr>
          <a:xfrm>
            <a:off x="6675120" y="3017520"/>
            <a:ext cx="3977639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D345B"/>
                </a:solidFill>
                <a:latin typeface="Arial"/>
              </a:rPr>
              <a:t>C. Negative + contradictory evidence</a:t>
            </a:r>
          </a:p>
        </p:txBody>
      </p:sp>
      <p:sp>
        <p:nvSpPr>
          <p:cNvPr id="17649" name="TextBox 17648">
            <a:extLst>
              <a:ext uri="{FF2B5EF4-FFF2-40B4-BE49-F238E27FC236}">
                <a16:creationId xmlns:a16="http://schemas.microsoft.com/office/drawing/2014/main" id="{B008F4A8-5560-DE29-3A07-771D176F9F85}"/>
              </a:ext>
            </a:extLst>
          </p:cNvPr>
          <p:cNvSpPr txBox="1"/>
          <p:nvPr/>
        </p:nvSpPr>
        <p:spPr>
          <a:xfrm>
            <a:off x="6675120" y="3255264"/>
            <a:ext cx="393192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30" b="0">
                <a:solidFill>
                  <a:srgbClr val="5F5F5F"/>
                </a:solidFill>
                <a:latin typeface="Arial"/>
              </a:rPr>
              <a:t>Represent expected-but-unseen observations and reject physically inconsistent transitions.</a:t>
            </a:r>
          </a:p>
        </p:txBody>
      </p:sp>
      <p:sp>
        <p:nvSpPr>
          <p:cNvPr id="17651" name="Rounded Rectangle 39">
            <a:extLst>
              <a:ext uri="{FF2B5EF4-FFF2-40B4-BE49-F238E27FC236}">
                <a16:creationId xmlns:a16="http://schemas.microsoft.com/office/drawing/2014/main" id="{6E58AFBB-CE68-7A2D-D2C5-375133C046A4}"/>
              </a:ext>
            </a:extLst>
          </p:cNvPr>
          <p:cNvSpPr/>
          <p:nvPr/>
        </p:nvSpPr>
        <p:spPr>
          <a:xfrm>
            <a:off x="6062472" y="3794760"/>
            <a:ext cx="4828032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9D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53" name="Oval 17652">
            <a:extLst>
              <a:ext uri="{FF2B5EF4-FFF2-40B4-BE49-F238E27FC236}">
                <a16:creationId xmlns:a16="http://schemas.microsoft.com/office/drawing/2014/main" id="{DDC9A67E-83D8-3A08-D02F-89577CF074DF}"/>
              </a:ext>
            </a:extLst>
          </p:cNvPr>
          <p:cNvSpPr/>
          <p:nvPr/>
        </p:nvSpPr>
        <p:spPr>
          <a:xfrm>
            <a:off x="6199632" y="3913632"/>
            <a:ext cx="384048" cy="384048"/>
          </a:xfrm>
          <a:prstGeom prst="ellipse">
            <a:avLst/>
          </a:prstGeom>
          <a:solidFill>
            <a:srgbClr val="CF9620"/>
          </a:solidFill>
          <a:ln>
            <a:solidFill>
              <a:srgbClr val="CF9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55" name="TextBox 17654">
            <a:extLst>
              <a:ext uri="{FF2B5EF4-FFF2-40B4-BE49-F238E27FC236}">
                <a16:creationId xmlns:a16="http://schemas.microsoft.com/office/drawing/2014/main" id="{EB254B8A-A780-8965-3721-9D47D2268D2B}"/>
              </a:ext>
            </a:extLst>
          </p:cNvPr>
          <p:cNvSpPr txBox="1"/>
          <p:nvPr/>
        </p:nvSpPr>
        <p:spPr>
          <a:xfrm>
            <a:off x="6199632" y="3913632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657" name="TextBox 17656">
            <a:extLst>
              <a:ext uri="{FF2B5EF4-FFF2-40B4-BE49-F238E27FC236}">
                <a16:creationId xmlns:a16="http://schemas.microsoft.com/office/drawing/2014/main" id="{CF9554DC-E7E5-50AE-58E2-49824E5D6326}"/>
              </a:ext>
            </a:extLst>
          </p:cNvPr>
          <p:cNvSpPr txBox="1"/>
          <p:nvPr/>
        </p:nvSpPr>
        <p:spPr>
          <a:xfrm>
            <a:off x="6675120" y="3849624"/>
            <a:ext cx="3977639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0D345B"/>
                </a:solidFill>
                <a:latin typeface="Arial"/>
              </a:rPr>
              <a:t>D. Evidence-driven camera selection</a:t>
            </a:r>
          </a:p>
        </p:txBody>
      </p:sp>
      <p:sp>
        <p:nvSpPr>
          <p:cNvPr id="17659" name="TextBox 17658">
            <a:extLst>
              <a:ext uri="{FF2B5EF4-FFF2-40B4-BE49-F238E27FC236}">
                <a16:creationId xmlns:a16="http://schemas.microsoft.com/office/drawing/2014/main" id="{CDC2887E-904C-9693-C4A1-93D024B626F8}"/>
              </a:ext>
            </a:extLst>
          </p:cNvPr>
          <p:cNvSpPr txBox="1"/>
          <p:nvPr/>
        </p:nvSpPr>
        <p:spPr>
          <a:xfrm>
            <a:off x="6675120" y="4087368"/>
            <a:ext cx="393192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30" b="0">
                <a:solidFill>
                  <a:srgbClr val="5F5F5F"/>
                </a:solidFill>
                <a:latin typeface="Arial"/>
              </a:rPr>
              <a:t>Choose the next camera/time-window by expected information gain, not only proximity.</a:t>
            </a:r>
          </a:p>
        </p:txBody>
      </p:sp>
      <p:sp>
        <p:nvSpPr>
          <p:cNvPr id="17661" name="TextBox 17660">
            <a:extLst>
              <a:ext uri="{FF2B5EF4-FFF2-40B4-BE49-F238E27FC236}">
                <a16:creationId xmlns:a16="http://schemas.microsoft.com/office/drawing/2014/main" id="{BAC66E01-D9DB-45A2-24E6-294BAF1DB29F}"/>
              </a:ext>
            </a:extLst>
          </p:cNvPr>
          <p:cNvSpPr txBox="1"/>
          <p:nvPr/>
        </p:nvSpPr>
        <p:spPr>
          <a:xfrm>
            <a:off x="347472" y="4690872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20" b="1">
                <a:solidFill>
                  <a:srgbClr val="0D345B"/>
                </a:solidFill>
                <a:latin typeface="Arial"/>
              </a:rPr>
              <a:t>3  VALIDATION FOUNDATION</a:t>
            </a:r>
          </a:p>
        </p:txBody>
      </p:sp>
      <p:sp>
        <p:nvSpPr>
          <p:cNvPr id="17663" name="Rounded Rectangle 45">
            <a:extLst>
              <a:ext uri="{FF2B5EF4-FFF2-40B4-BE49-F238E27FC236}">
                <a16:creationId xmlns:a16="http://schemas.microsoft.com/office/drawing/2014/main" id="{40D38549-9FD5-516A-5645-0FDE099132DA}"/>
              </a:ext>
            </a:extLst>
          </p:cNvPr>
          <p:cNvSpPr/>
          <p:nvPr/>
        </p:nvSpPr>
        <p:spPr>
          <a:xfrm>
            <a:off x="329184" y="5001768"/>
            <a:ext cx="2596896" cy="658368"/>
          </a:xfrm>
          <a:prstGeom prst="roundRect">
            <a:avLst/>
          </a:prstGeom>
          <a:solidFill>
            <a:srgbClr val="D8D0A3"/>
          </a:solidFill>
          <a:ln w="13970">
            <a:solidFill>
              <a:srgbClr val="7D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65" name="TextBox 17664">
            <a:extLst>
              <a:ext uri="{FF2B5EF4-FFF2-40B4-BE49-F238E27FC236}">
                <a16:creationId xmlns:a16="http://schemas.microsoft.com/office/drawing/2014/main" id="{1F68A079-E092-CBB0-6E59-B8DED8AFEA80}"/>
              </a:ext>
            </a:extLst>
          </p:cNvPr>
          <p:cNvSpPr txBox="1"/>
          <p:nvPr/>
        </p:nvSpPr>
        <p:spPr>
          <a:xfrm>
            <a:off x="420623" y="5029200"/>
            <a:ext cx="2414016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D345B"/>
                </a:solidFill>
                <a:latin typeface="Arial"/>
                <a:hlinkClick r:id="rId8"/>
              </a:rPr>
              <a:t>Hyderabad CCTV</a:t>
            </a:r>
          </a:p>
        </p:txBody>
      </p:sp>
      <p:sp>
        <p:nvSpPr>
          <p:cNvPr id="17667" name="TextBox 17666">
            <a:extLst>
              <a:ext uri="{FF2B5EF4-FFF2-40B4-BE49-F238E27FC236}">
                <a16:creationId xmlns:a16="http://schemas.microsoft.com/office/drawing/2014/main" id="{FBFDC134-A332-6858-0ABA-F620B46C2141}"/>
              </a:ext>
            </a:extLst>
          </p:cNvPr>
          <p:cNvSpPr txBox="1"/>
          <p:nvPr/>
        </p:nvSpPr>
        <p:spPr>
          <a:xfrm>
            <a:off x="420623" y="5248656"/>
            <a:ext cx="241401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IITH_Helmet2 / IITH_Accident</a:t>
            </a:r>
          </a:p>
        </p:txBody>
      </p:sp>
      <p:sp>
        <p:nvSpPr>
          <p:cNvPr id="17669" name="Rounded Rectangle 48">
            <a:extLst>
              <a:ext uri="{FF2B5EF4-FFF2-40B4-BE49-F238E27FC236}">
                <a16:creationId xmlns:a16="http://schemas.microsoft.com/office/drawing/2014/main" id="{725AD9C4-D961-F12C-341E-1CDFD46CFA45}"/>
              </a:ext>
            </a:extLst>
          </p:cNvPr>
          <p:cNvSpPr/>
          <p:nvPr/>
        </p:nvSpPr>
        <p:spPr>
          <a:xfrm>
            <a:off x="3090672" y="5001768"/>
            <a:ext cx="2596896" cy="658368"/>
          </a:xfrm>
          <a:prstGeom prst="roundRect">
            <a:avLst/>
          </a:prstGeom>
          <a:solidFill>
            <a:srgbClr val="D8D0A3"/>
          </a:solidFill>
          <a:ln w="13970">
            <a:solidFill>
              <a:srgbClr val="7D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71" name="TextBox 17670">
            <a:extLst>
              <a:ext uri="{FF2B5EF4-FFF2-40B4-BE49-F238E27FC236}">
                <a16:creationId xmlns:a16="http://schemas.microsoft.com/office/drawing/2014/main" id="{39C7E03C-B2EE-959F-C8EF-F39EF25B513A}"/>
              </a:ext>
            </a:extLst>
          </p:cNvPr>
          <p:cNvSpPr txBox="1"/>
          <p:nvPr/>
        </p:nvSpPr>
        <p:spPr>
          <a:xfrm>
            <a:off x="3182112" y="5029200"/>
            <a:ext cx="2414016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D345B"/>
                </a:solidFill>
                <a:latin typeface="Arial"/>
                <a:hlinkClick r:id="rId9"/>
              </a:rPr>
              <a:t>City-scale benchmark</a:t>
            </a:r>
          </a:p>
        </p:txBody>
      </p:sp>
      <p:sp>
        <p:nvSpPr>
          <p:cNvPr id="17673" name="TextBox 17672">
            <a:extLst>
              <a:ext uri="{FF2B5EF4-FFF2-40B4-BE49-F238E27FC236}">
                <a16:creationId xmlns:a16="http://schemas.microsoft.com/office/drawing/2014/main" id="{782DB058-B57A-ECEC-250A-E0B1B6F5271E}"/>
              </a:ext>
            </a:extLst>
          </p:cNvPr>
          <p:cNvSpPr txBox="1"/>
          <p:nvPr/>
        </p:nvSpPr>
        <p:spPr>
          <a:xfrm>
            <a:off x="3182112" y="5248656"/>
            <a:ext cx="241401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CityFlow / AI City</a:t>
            </a:r>
          </a:p>
        </p:txBody>
      </p:sp>
      <p:sp>
        <p:nvSpPr>
          <p:cNvPr id="17675" name="Rounded Rectangle 51">
            <a:extLst>
              <a:ext uri="{FF2B5EF4-FFF2-40B4-BE49-F238E27FC236}">
                <a16:creationId xmlns:a16="http://schemas.microsoft.com/office/drawing/2014/main" id="{7FD6403C-520D-E71B-B718-B3FBAA383D38}"/>
              </a:ext>
            </a:extLst>
          </p:cNvPr>
          <p:cNvSpPr/>
          <p:nvPr/>
        </p:nvSpPr>
        <p:spPr>
          <a:xfrm>
            <a:off x="5852160" y="5001768"/>
            <a:ext cx="2596896" cy="658368"/>
          </a:xfrm>
          <a:prstGeom prst="roundRect">
            <a:avLst/>
          </a:prstGeom>
          <a:solidFill>
            <a:srgbClr val="D8D0A3"/>
          </a:solidFill>
          <a:ln w="13970">
            <a:solidFill>
              <a:srgbClr val="7D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77" name="TextBox 17676">
            <a:extLst>
              <a:ext uri="{FF2B5EF4-FFF2-40B4-BE49-F238E27FC236}">
                <a16:creationId xmlns:a16="http://schemas.microsoft.com/office/drawing/2014/main" id="{48A63D2F-063A-C168-7BDE-ADD9C4351341}"/>
              </a:ext>
            </a:extLst>
          </p:cNvPr>
          <p:cNvSpPr txBox="1"/>
          <p:nvPr/>
        </p:nvSpPr>
        <p:spPr>
          <a:xfrm>
            <a:off x="5943600" y="5029200"/>
            <a:ext cx="2414016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D345B"/>
                </a:solidFill>
                <a:latin typeface="Arial"/>
                <a:hlinkClick r:id="rId4"/>
              </a:rPr>
              <a:t>Indian ANPR</a:t>
            </a:r>
          </a:p>
        </p:txBody>
      </p:sp>
      <p:sp>
        <p:nvSpPr>
          <p:cNvPr id="17679" name="TextBox 17678">
            <a:extLst>
              <a:ext uri="{FF2B5EF4-FFF2-40B4-BE49-F238E27FC236}">
                <a16:creationId xmlns:a16="http://schemas.microsoft.com/office/drawing/2014/main" id="{0A726F7F-5083-1287-B08E-8458E54C658C}"/>
              </a:ext>
            </a:extLst>
          </p:cNvPr>
          <p:cNvSpPr txBox="1"/>
          <p:nvPr/>
        </p:nvSpPr>
        <p:spPr>
          <a:xfrm>
            <a:off x="5943600" y="5248656"/>
            <a:ext cx="241401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Indian plate dataset + BARC study</a:t>
            </a:r>
          </a:p>
        </p:txBody>
      </p:sp>
      <p:sp>
        <p:nvSpPr>
          <p:cNvPr id="17681" name="Rounded Rectangle 54">
            <a:extLst>
              <a:ext uri="{FF2B5EF4-FFF2-40B4-BE49-F238E27FC236}">
                <a16:creationId xmlns:a16="http://schemas.microsoft.com/office/drawing/2014/main" id="{CF69F837-D3FB-745C-51B3-617D21F56544}"/>
              </a:ext>
            </a:extLst>
          </p:cNvPr>
          <p:cNvSpPr/>
          <p:nvPr/>
        </p:nvSpPr>
        <p:spPr>
          <a:xfrm>
            <a:off x="8613648" y="5001768"/>
            <a:ext cx="2596896" cy="658368"/>
          </a:xfrm>
          <a:prstGeom prst="roundRect">
            <a:avLst/>
          </a:prstGeom>
          <a:solidFill>
            <a:srgbClr val="D8D0A3"/>
          </a:solidFill>
          <a:ln w="13970">
            <a:solidFill>
              <a:srgbClr val="7DA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83" name="TextBox 17682">
            <a:extLst>
              <a:ext uri="{FF2B5EF4-FFF2-40B4-BE49-F238E27FC236}">
                <a16:creationId xmlns:a16="http://schemas.microsoft.com/office/drawing/2014/main" id="{ADBA9F7E-F4CC-414A-9199-A666BCCC9542}"/>
              </a:ext>
            </a:extLst>
          </p:cNvPr>
          <p:cNvSpPr txBox="1"/>
          <p:nvPr/>
        </p:nvSpPr>
        <p:spPr>
          <a:xfrm>
            <a:off x="8705088" y="5029200"/>
            <a:ext cx="2414016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19" b="1">
                <a:solidFill>
                  <a:srgbClr val="0D345B"/>
                </a:solidFill>
                <a:latin typeface="Arial"/>
                <a:hlinkClick r:id="rId10"/>
              </a:rPr>
              <a:t>Road network</a:t>
            </a:r>
          </a:p>
        </p:txBody>
      </p:sp>
      <p:sp>
        <p:nvSpPr>
          <p:cNvPr id="17685" name="TextBox 17684">
            <a:extLst>
              <a:ext uri="{FF2B5EF4-FFF2-40B4-BE49-F238E27FC236}">
                <a16:creationId xmlns:a16="http://schemas.microsoft.com/office/drawing/2014/main" id="{9098091E-0C04-85C4-D2CB-5EE3E65D9BCE}"/>
              </a:ext>
            </a:extLst>
          </p:cNvPr>
          <p:cNvSpPr txBox="1"/>
          <p:nvPr/>
        </p:nvSpPr>
        <p:spPr>
          <a:xfrm>
            <a:off x="8705088" y="5248656"/>
            <a:ext cx="241401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OpenStreetMap for GIS topology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8218</TotalTime>
  <Words>976</Words>
  <Application>Microsoft Office PowerPoint</Application>
  <PresentationFormat>Widescreen</PresentationFormat>
  <Paragraphs>222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Cambria</vt:lpstr>
      <vt:lpstr>Garamond</vt:lpstr>
      <vt:lpstr>Times New Roman</vt:lpstr>
      <vt:lpstr>TradeGothic</vt:lpstr>
      <vt:lpstr>Wingdings</vt:lpstr>
      <vt:lpstr>Office Theme</vt:lpstr>
      <vt:lpstr>SMART INDIA HACKATHON 2026</vt:lpstr>
      <vt:lpstr>TRACE-X AI-Powered Vehicle Tracking &amp; Traffic Intelligence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Vishal Gudla</cp:lastModifiedBy>
  <cp:revision>156</cp:revision>
  <dcterms:created xsi:type="dcterms:W3CDTF">2013-12-12T18:46:50Z</dcterms:created>
  <dcterms:modified xsi:type="dcterms:W3CDTF">2026-09-18T05:08:26Z</dcterms:modified>
  <cp:category/>
</cp:coreProperties>
</file>